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Fira Code Light"/>
      <p:regular r:id="rId24"/>
      <p:bold r:id="rId25"/>
    </p:embeddedFont>
    <p:embeddedFont>
      <p:font typeface="Roboto Thin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edium"/>
      <p:regular r:id="rId34"/>
      <p:bold r:id="rId35"/>
      <p:italic r:id="rId36"/>
      <p:boldItalic r:id="rId37"/>
    </p:embeddedFont>
    <p:embeddedFont>
      <p:font typeface="Arimo"/>
      <p:regular r:id="rId38"/>
      <p:bold r:id="rId39"/>
      <p:italic r:id="rId40"/>
      <p:boldItalic r:id="rId41"/>
    </p:embeddedFont>
    <p:embeddedFont>
      <p:font typeface="Arsenal"/>
      <p:bold r:id="rId42"/>
      <p:boldItalic r:id="rId43"/>
    </p:embeddedFont>
    <p:embeddedFont>
      <p:font typeface="Radley"/>
      <p:regular r:id="rId44"/>
      <p:italic r:id="rId45"/>
    </p:embeddedFont>
    <p:embeddedFont>
      <p:font typeface="Fira Code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j43OBiysjM/6+fz8XfF2HKtIZk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37DAE8-3ED3-4918-8F78-8C1BF750C990}">
  <a:tblStyle styleId="{9B37DAE8-3ED3-4918-8F78-8C1BF750C99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italic.fntdata"/><Relationship Id="rId20" Type="http://schemas.openxmlformats.org/officeDocument/2006/relationships/slide" Target="slides/slide14.xml"/><Relationship Id="rId42" Type="http://schemas.openxmlformats.org/officeDocument/2006/relationships/font" Target="fonts/Arsenal-bold.fntdata"/><Relationship Id="rId41" Type="http://schemas.openxmlformats.org/officeDocument/2006/relationships/font" Target="fonts/Arimo-boldItalic.fntdata"/><Relationship Id="rId22" Type="http://schemas.openxmlformats.org/officeDocument/2006/relationships/slide" Target="slides/slide16.xml"/><Relationship Id="rId44" Type="http://schemas.openxmlformats.org/officeDocument/2006/relationships/font" Target="fonts/Radley-regular.fntdata"/><Relationship Id="rId21" Type="http://schemas.openxmlformats.org/officeDocument/2006/relationships/slide" Target="slides/slide15.xml"/><Relationship Id="rId43" Type="http://schemas.openxmlformats.org/officeDocument/2006/relationships/font" Target="fonts/Arsenal-boldItalic.fntdata"/><Relationship Id="rId24" Type="http://schemas.openxmlformats.org/officeDocument/2006/relationships/font" Target="fonts/FiraCodeLight-regular.fntdata"/><Relationship Id="rId46" Type="http://schemas.openxmlformats.org/officeDocument/2006/relationships/font" Target="fonts/FiraCode-regular.fntdata"/><Relationship Id="rId23" Type="http://schemas.openxmlformats.org/officeDocument/2006/relationships/slide" Target="slides/slide17.xml"/><Relationship Id="rId45" Type="http://schemas.openxmlformats.org/officeDocument/2006/relationships/font" Target="fonts/Radle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Thin-regular.fntdata"/><Relationship Id="rId48" Type="http://customschemas.google.com/relationships/presentationmetadata" Target="metadata"/><Relationship Id="rId25" Type="http://schemas.openxmlformats.org/officeDocument/2006/relationships/font" Target="fonts/FiraCodeLight-bold.fntdata"/><Relationship Id="rId47" Type="http://schemas.openxmlformats.org/officeDocument/2006/relationships/font" Target="fonts/FiraCode-bold.fntdata"/><Relationship Id="rId28" Type="http://schemas.openxmlformats.org/officeDocument/2006/relationships/font" Target="fonts/RobotoThin-italic.fntdata"/><Relationship Id="rId27" Type="http://schemas.openxmlformats.org/officeDocument/2006/relationships/font" Target="fonts/RobotoThin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Thin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bold.fntdata"/><Relationship Id="rId12" Type="http://schemas.openxmlformats.org/officeDocument/2006/relationships/slide" Target="slides/slide6.xml"/><Relationship Id="rId34" Type="http://schemas.openxmlformats.org/officeDocument/2006/relationships/font" Target="fonts/RobotoMedium-regular.fntdata"/><Relationship Id="rId15" Type="http://schemas.openxmlformats.org/officeDocument/2006/relationships/slide" Target="slides/slide9.xml"/><Relationship Id="rId37" Type="http://schemas.openxmlformats.org/officeDocument/2006/relationships/font" Target="fonts/Roboto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Medium-italic.fntdata"/><Relationship Id="rId17" Type="http://schemas.openxmlformats.org/officeDocument/2006/relationships/slide" Target="slides/slide11.xml"/><Relationship Id="rId39" Type="http://schemas.openxmlformats.org/officeDocument/2006/relationships/font" Target="fonts/Arimo-bold.fntdata"/><Relationship Id="rId16" Type="http://schemas.openxmlformats.org/officeDocument/2006/relationships/slide" Target="slides/slide10.xml"/><Relationship Id="rId38" Type="http://schemas.openxmlformats.org/officeDocument/2006/relationships/font" Target="fonts/Arim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38584c3e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038584c3ec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10f31e0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110f31e0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a8714e965ea157c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a8714e965ea157c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a8714e965ea157c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a8714e965ea157c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a8714e965ea157c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a8714e965ea157c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a8714e965ea157c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a8714e965ea157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Relationship Id="rId4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5" y="-7620078"/>
            <a:ext cx="18288000" cy="182881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"/>
          <p:cNvGrpSpPr/>
          <p:nvPr/>
        </p:nvGrpSpPr>
        <p:grpSpPr>
          <a:xfrm>
            <a:off x="12228949" y="3125050"/>
            <a:ext cx="5182742" cy="4866727"/>
            <a:chOff x="0" y="0"/>
            <a:chExt cx="8075323" cy="7641274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8075323" cy="7641274"/>
            </a:xfrm>
            <a:custGeom>
              <a:rect b="b" l="l" r="r" t="t"/>
              <a:pathLst>
                <a:path extrusionOk="0" h="7641274" w="8075323">
                  <a:moveTo>
                    <a:pt x="0" y="0"/>
                  </a:moveTo>
                  <a:lnTo>
                    <a:pt x="8075323" y="0"/>
                  </a:lnTo>
                  <a:lnTo>
                    <a:pt x="8075323" y="7641274"/>
                  </a:lnTo>
                  <a:lnTo>
                    <a:pt x="0" y="764127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1723348" y="3097310"/>
              <a:ext cx="5126266" cy="3737514"/>
            </a:xfrm>
            <a:custGeom>
              <a:rect b="b" l="l" r="r" t="t"/>
              <a:pathLst>
                <a:path extrusionOk="0" h="3737514" w="5126266">
                  <a:moveTo>
                    <a:pt x="0" y="0"/>
                  </a:moveTo>
                  <a:lnTo>
                    <a:pt x="5126265" y="0"/>
                  </a:lnTo>
                  <a:lnTo>
                    <a:pt x="5126265" y="3737514"/>
                  </a:lnTo>
                  <a:lnTo>
                    <a:pt x="0" y="37375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8" name="Google Shape;88;p1"/>
          <p:cNvSpPr txBox="1"/>
          <p:nvPr/>
        </p:nvSpPr>
        <p:spPr>
          <a:xfrm>
            <a:off x="1300675" y="1894350"/>
            <a:ext cx="14202600" cy="3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875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TERRA-</a:t>
            </a:r>
            <a:endParaRPr b="1" sz="15875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9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99">
                <a:solidFill>
                  <a:schemeClr val="lt1"/>
                </a:solidFill>
              </a:rPr>
              <a:t>Tracking and Environmental Real-time Response Apparatus</a:t>
            </a:r>
            <a:endParaRPr b="1" sz="15875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6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875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4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875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300674" y="9467850"/>
            <a:ext cx="347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626475" y="8989238"/>
            <a:ext cx="15056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577" u="none" cap="none" strike="noStrik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Revolutionizing Flood Management Through Real-Time Data</a:t>
            </a:r>
            <a:endParaRPr sz="500">
              <a:solidFill>
                <a:schemeClr val="l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8888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20904"/>
          <a:stretch/>
        </p:blipFill>
        <p:spPr>
          <a:xfrm>
            <a:off x="22500" y="3885975"/>
            <a:ext cx="18288000" cy="81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1574100" y="857000"/>
            <a:ext cx="123267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99" u="none" cap="none" strike="noStrike">
                <a:solidFill>
                  <a:srgbClr val="FEFEFE"/>
                </a:solidFill>
                <a:latin typeface="Arsenal"/>
                <a:ea typeface="Arsenal"/>
                <a:cs typeface="Arsenal"/>
                <a:sym typeface="Arsenal"/>
              </a:rPr>
              <a:t>PROBLEM</a:t>
            </a:r>
            <a:r>
              <a:rPr b="1" lang="en-US" sz="8099">
                <a:solidFill>
                  <a:srgbClr val="FEFEFE"/>
                </a:solidFill>
                <a:latin typeface="Arsenal"/>
                <a:ea typeface="Arsenal"/>
                <a:cs typeface="Arsenal"/>
                <a:sym typeface="Arsenal"/>
              </a:rPr>
              <a:t> STATEMENT </a:t>
            </a:r>
            <a:endParaRPr sz="100"/>
          </a:p>
        </p:txBody>
      </p:sp>
      <p:sp>
        <p:nvSpPr>
          <p:cNvPr id="98" name="Google Shape;98;p2"/>
          <p:cNvSpPr txBox="1"/>
          <p:nvPr/>
        </p:nvSpPr>
        <p:spPr>
          <a:xfrm>
            <a:off x="1028700" y="9467850"/>
            <a:ext cx="22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5708199" y="9515475"/>
            <a:ext cx="1551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0084375" y="6763775"/>
            <a:ext cx="4893448" cy="1610830"/>
            <a:chOff x="5530260" y="2684667"/>
            <a:chExt cx="2767944" cy="958200"/>
          </a:xfrm>
        </p:grpSpPr>
        <p:cxnSp>
          <p:nvCxnSpPr>
            <p:cNvPr id="101" name="Google Shape;101;p2"/>
            <p:cNvCxnSpPr/>
            <p:nvPr/>
          </p:nvCxnSpPr>
          <p:spPr>
            <a:xfrm flipH="1" rot="10800000">
              <a:off x="5530260" y="3131454"/>
              <a:ext cx="874200" cy="186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" name="Google Shape;102;p2"/>
            <p:cNvSpPr txBox="1"/>
            <p:nvPr/>
          </p:nvSpPr>
          <p:spPr>
            <a:xfrm>
              <a:off x="6431004" y="2684667"/>
              <a:ext cx="1867200" cy="9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highlight>
                    <a:schemeClr val="lt1"/>
                  </a:highlight>
                  <a:latin typeface="Roboto"/>
                  <a:ea typeface="Roboto"/>
                  <a:cs typeface="Roboto"/>
                  <a:sym typeface="Roboto"/>
                </a:rPr>
                <a:t>Impact: </a:t>
              </a:r>
              <a:endParaRPr b="1" sz="18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249257" y="3034722"/>
              <a:ext cx="198600" cy="198300"/>
            </a:xfrm>
            <a:prstGeom prst="ellipse">
              <a:avLst/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6183507" y="297479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1261475" y="4194950"/>
            <a:ext cx="6219060" cy="2327483"/>
            <a:chOff x="113283" y="1844097"/>
            <a:chExt cx="3517767" cy="1384500"/>
          </a:xfrm>
        </p:grpSpPr>
        <p:sp>
          <p:nvSpPr>
            <p:cNvPr id="106" name="Google Shape;106;p2"/>
            <p:cNvSpPr txBox="1"/>
            <p:nvPr/>
          </p:nvSpPr>
          <p:spPr>
            <a:xfrm>
              <a:off x="113283" y="1844097"/>
              <a:ext cx="23904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highlight>
                    <a:schemeClr val="lt1"/>
                  </a:highlight>
                </a:rPr>
                <a:t>Current Solutions Fails because</a:t>
              </a:r>
              <a:r>
                <a:rPr lang="en-US" sz="1800">
                  <a:solidFill>
                    <a:schemeClr val="dk1"/>
                  </a:solidFill>
                  <a:highlight>
                    <a:schemeClr val="lt1"/>
                  </a:highlight>
                </a:rPr>
                <a:t>:  </a:t>
              </a:r>
              <a:endParaRPr b="1" sz="21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7" name="Google Shape;107;p2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8" name="Google Shape;108;p2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9509633" y="2026750"/>
            <a:ext cx="6363708" cy="2327483"/>
            <a:chOff x="4908100" y="889950"/>
            <a:chExt cx="3599586" cy="1384500"/>
          </a:xfrm>
        </p:grpSpPr>
        <p:cxnSp>
          <p:nvCxnSpPr>
            <p:cNvPr id="110" name="Google Shape;110;p2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" name="Google Shape;111;p2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highlight>
                    <a:schemeClr val="lt1"/>
                  </a:highlight>
                  <a:latin typeface="Roboto"/>
                  <a:ea typeface="Roboto"/>
                  <a:cs typeface="Roboto"/>
                  <a:sym typeface="Roboto"/>
                </a:rPr>
                <a:t>KEY PROBLEM: </a:t>
              </a:r>
              <a:endParaRPr b="1" sz="18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1869100" y="5722975"/>
            <a:ext cx="2772300" cy="559200"/>
          </a:xfrm>
          <a:prstGeom prst="rect">
            <a:avLst/>
          </a:prstGeom>
          <a:solidFill>
            <a:srgbClr val="249C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Delayed prediction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869100" y="6459150"/>
            <a:ext cx="2772300" cy="559200"/>
          </a:xfrm>
          <a:prstGeom prst="rect">
            <a:avLst/>
          </a:prstGeom>
          <a:solidFill>
            <a:srgbClr val="249C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Unreliable predictions based on only Statistics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449475" y="6572101"/>
            <a:ext cx="226800" cy="215400"/>
          </a:xfrm>
          <a:prstGeom prst="ellipse">
            <a:avLst/>
          </a:prstGeom>
          <a:solidFill>
            <a:srgbClr val="1D7E7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1449475" y="5967851"/>
            <a:ext cx="226800" cy="215400"/>
          </a:xfrm>
          <a:prstGeom prst="ellipse">
            <a:avLst/>
          </a:prstGeom>
          <a:solidFill>
            <a:srgbClr val="1D7E7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13101050" y="3644688"/>
            <a:ext cx="2772300" cy="559200"/>
          </a:xfrm>
          <a:prstGeom prst="rect">
            <a:avLst/>
          </a:prstGeom>
          <a:solidFill>
            <a:srgbClr val="249C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Lives Threatened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2681425" y="3889563"/>
            <a:ext cx="226800" cy="215400"/>
          </a:xfrm>
          <a:prstGeom prst="ellipse">
            <a:avLst/>
          </a:prstGeom>
          <a:solidFill>
            <a:srgbClr val="1D7E7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3101050" y="4403088"/>
            <a:ext cx="2772300" cy="559200"/>
          </a:xfrm>
          <a:prstGeom prst="rect">
            <a:avLst/>
          </a:prstGeom>
          <a:solidFill>
            <a:srgbClr val="249C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Economic Unstability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2681425" y="4647963"/>
            <a:ext cx="226800" cy="215400"/>
          </a:xfrm>
          <a:prstGeom prst="ellipse">
            <a:avLst/>
          </a:prstGeom>
          <a:solidFill>
            <a:srgbClr val="1D7E7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13101050" y="5088888"/>
            <a:ext cx="2772300" cy="559200"/>
          </a:xfrm>
          <a:prstGeom prst="rect">
            <a:avLst/>
          </a:prstGeom>
          <a:solidFill>
            <a:srgbClr val="249C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Infrastructure Damage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2681425" y="5333763"/>
            <a:ext cx="226800" cy="215400"/>
          </a:xfrm>
          <a:prstGeom prst="ellipse">
            <a:avLst/>
          </a:prstGeom>
          <a:solidFill>
            <a:srgbClr val="1D7E7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12280250" y="7875063"/>
            <a:ext cx="2772300" cy="559200"/>
          </a:xfrm>
          <a:prstGeom prst="rect">
            <a:avLst/>
          </a:prstGeom>
          <a:solidFill>
            <a:srgbClr val="249C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Poor Resource Allocation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2280250" y="8611238"/>
            <a:ext cx="2772300" cy="559200"/>
          </a:xfrm>
          <a:prstGeom prst="rect">
            <a:avLst/>
          </a:prstGeom>
          <a:solidFill>
            <a:srgbClr val="249C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Delayed disaster response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11860625" y="8724188"/>
            <a:ext cx="226800" cy="215400"/>
          </a:xfrm>
          <a:prstGeom prst="ellipse">
            <a:avLst/>
          </a:prstGeom>
          <a:solidFill>
            <a:srgbClr val="1D7E7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11860625" y="8119938"/>
            <a:ext cx="226800" cy="215400"/>
          </a:xfrm>
          <a:prstGeom prst="ellipse">
            <a:avLst/>
          </a:prstGeom>
          <a:solidFill>
            <a:srgbClr val="1D7E75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2"/>
          <p:cNvGrpSpPr/>
          <p:nvPr/>
        </p:nvGrpSpPr>
        <p:grpSpPr>
          <a:xfrm>
            <a:off x="5240643" y="1903573"/>
            <a:ext cx="7261156" cy="7215022"/>
            <a:chOff x="2662213" y="676344"/>
            <a:chExt cx="3814835" cy="3790597"/>
          </a:xfrm>
        </p:grpSpPr>
        <p:sp>
          <p:nvSpPr>
            <p:cNvPr id="128" name="Google Shape;128;p2"/>
            <p:cNvSpPr/>
            <p:nvPr/>
          </p:nvSpPr>
          <p:spPr>
            <a:xfrm rot="3600185">
              <a:off x="3169983" y="1184511"/>
              <a:ext cx="2774659" cy="2774659"/>
            </a:xfrm>
            <a:prstGeom prst="blockArc">
              <a:avLst>
                <a:gd fmla="val 12622480" name="adj1"/>
                <a:gd fmla="val 19781569" name="adj2"/>
                <a:gd fmla="val 20773" name="adj3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 rot="10800000">
              <a:off x="3183490" y="1163229"/>
              <a:ext cx="2774700" cy="2774700"/>
            </a:xfrm>
            <a:prstGeom prst="blockArc">
              <a:avLst>
                <a:gd fmla="val 12622480" name="adj1"/>
                <a:gd fmla="val 19662822" name="adj2"/>
                <a:gd fmla="val 20729" name="adj3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 rot="-3600185">
              <a:off x="3194618" y="1184114"/>
              <a:ext cx="2774659" cy="2774659"/>
            </a:xfrm>
            <a:prstGeom prst="blockArc">
              <a:avLst>
                <a:gd fmla="val 12622480" name="adj1"/>
                <a:gd fmla="val 19703271" name="adj2"/>
                <a:gd fmla="val 20851" name="adj3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1" name="Google Shape;131;p2"/>
            <p:cNvGrpSpPr/>
            <p:nvPr/>
          </p:nvGrpSpPr>
          <p:grpSpPr>
            <a:xfrm rot="-7200165">
              <a:off x="3337679" y="2826785"/>
              <a:ext cx="585011" cy="585536"/>
              <a:chOff x="1967628" y="812211"/>
              <a:chExt cx="588000" cy="588000"/>
            </a:xfrm>
          </p:grpSpPr>
          <p:sp>
            <p:nvSpPr>
              <p:cNvPr id="132" name="Google Shape;132;p2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249C91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249C91"/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" name="Google Shape;134;p2"/>
            <p:cNvGrpSpPr/>
            <p:nvPr/>
          </p:nvGrpSpPr>
          <p:grpSpPr>
            <a:xfrm>
              <a:off x="4264097" y="1180331"/>
              <a:ext cx="585001" cy="585530"/>
              <a:chOff x="1970048" y="811613"/>
              <a:chExt cx="588000" cy="588000"/>
            </a:xfrm>
          </p:grpSpPr>
          <p:sp>
            <p:nvSpPr>
              <p:cNvPr id="135" name="Google Shape;135;p2"/>
              <p:cNvSpPr/>
              <p:nvPr/>
            </p:nvSpPr>
            <p:spPr>
              <a:xfrm rot="39023">
                <a:off x="1973329" y="814894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55B55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 rot="10800000">
                <a:off x="1973295" y="814927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55B55"/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" name="Google Shape;137;p2"/>
            <p:cNvGrpSpPr/>
            <p:nvPr/>
          </p:nvGrpSpPr>
          <p:grpSpPr>
            <a:xfrm rot="7200165">
              <a:off x="5229930" y="2804716"/>
              <a:ext cx="585011" cy="585536"/>
              <a:chOff x="1977085" y="811649"/>
              <a:chExt cx="588000" cy="588000"/>
            </a:xfrm>
          </p:grpSpPr>
          <p:sp>
            <p:nvSpPr>
              <p:cNvPr id="138" name="Google Shape;138;p2"/>
              <p:cNvSpPr/>
              <p:nvPr/>
            </p:nvSpPr>
            <p:spPr>
              <a:xfrm rot="39023">
                <a:off x="1980366" y="814930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D7E75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 rot="10800000">
                <a:off x="1980332" y="814963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D7E75"/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" name="Google Shape;140;p2"/>
            <p:cNvSpPr txBox="1"/>
            <p:nvPr/>
          </p:nvSpPr>
          <p:spPr>
            <a:xfrm>
              <a:off x="4334550" y="1255312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3375648" y="2887440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" name="Google Shape;142;p2"/>
            <p:cNvSpPr txBox="1"/>
            <p:nvPr/>
          </p:nvSpPr>
          <p:spPr>
            <a:xfrm>
              <a:off x="5281877" y="2857865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43" name="Google Shape;14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3675" y="3889575"/>
            <a:ext cx="3429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3"/>
          <p:cNvGrpSpPr/>
          <p:nvPr/>
        </p:nvGrpSpPr>
        <p:grpSpPr>
          <a:xfrm>
            <a:off x="-339175" y="-204171"/>
            <a:ext cx="18966465" cy="10774462"/>
            <a:chOff x="0" y="-19050"/>
            <a:chExt cx="4995250" cy="1676672"/>
          </a:xfrm>
        </p:grpSpPr>
        <p:sp>
          <p:nvSpPr>
            <p:cNvPr id="149" name="Google Shape;149;p3"/>
            <p:cNvSpPr/>
            <p:nvPr/>
          </p:nvSpPr>
          <p:spPr>
            <a:xfrm>
              <a:off x="0" y="0"/>
              <a:ext cx="4995250" cy="1657622"/>
            </a:xfrm>
            <a:custGeom>
              <a:rect b="b" l="l" r="r" t="t"/>
              <a:pathLst>
                <a:path extrusionOk="0" h="1657622" w="4995250">
                  <a:moveTo>
                    <a:pt x="0" y="0"/>
                  </a:moveTo>
                  <a:lnTo>
                    <a:pt x="4995250" y="0"/>
                  </a:lnTo>
                  <a:lnTo>
                    <a:pt x="4995250" y="1657622"/>
                  </a:lnTo>
                  <a:lnTo>
                    <a:pt x="0" y="16576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0" name="Google Shape;150;p3"/>
            <p:cNvSpPr txBox="1"/>
            <p:nvPr/>
          </p:nvSpPr>
          <p:spPr>
            <a:xfrm>
              <a:off x="0" y="-19050"/>
              <a:ext cx="4995250" cy="1676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1" name="Google Shape;15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825" y="-479875"/>
            <a:ext cx="11050176" cy="1105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"/>
          <p:cNvSpPr/>
          <p:nvPr/>
        </p:nvSpPr>
        <p:spPr>
          <a:xfrm>
            <a:off x="-3543299" y="-3042823"/>
            <a:ext cx="16230600" cy="7628382"/>
          </a:xfrm>
          <a:custGeom>
            <a:rect b="b" l="l" r="r" t="t"/>
            <a:pathLst>
              <a:path extrusionOk="0" h="7628382" w="16230600">
                <a:moveTo>
                  <a:pt x="0" y="0"/>
                </a:moveTo>
                <a:lnTo>
                  <a:pt x="16230600" y="0"/>
                </a:lnTo>
                <a:lnTo>
                  <a:pt x="16230600" y="7628382"/>
                </a:lnTo>
                <a:lnTo>
                  <a:pt x="0" y="7628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3" name="Google Shape;153;p3"/>
          <p:cNvCxnSpPr/>
          <p:nvPr/>
        </p:nvCxnSpPr>
        <p:spPr>
          <a:xfrm flipH="1">
            <a:off x="1028700" y="9258300"/>
            <a:ext cx="16230600" cy="14287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3"/>
          <p:cNvSpPr txBox="1"/>
          <p:nvPr/>
        </p:nvSpPr>
        <p:spPr>
          <a:xfrm>
            <a:off x="1409475" y="524700"/>
            <a:ext cx="9149700" cy="2475900"/>
          </a:xfrm>
          <a:prstGeom prst="rect">
            <a:avLst/>
          </a:prstGeom>
          <a:solidFill>
            <a:srgbClr val="32909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Introducing  TERRA</a:t>
            </a:r>
            <a:endParaRPr b="1" sz="6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40011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299">
                <a:solidFill>
                  <a:schemeClr val="lt1"/>
                </a:solidFill>
              </a:rPr>
              <a:t>     </a:t>
            </a:r>
            <a:r>
              <a:rPr b="1" lang="en-US" sz="2299">
                <a:solidFill>
                  <a:schemeClr val="lt1"/>
                </a:solidFill>
              </a:rPr>
              <a:t>Tracking and Environmental Real-time Response Apparatus</a:t>
            </a:r>
            <a:endParaRPr b="1" sz="2299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99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 An All in One Digital Disaster management System </a:t>
            </a:r>
            <a:endParaRPr sz="2299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  <a:p>
            <a:pPr indent="0" lvl="0" marL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99">
              <a:solidFill>
                <a:schemeClr val="lt1"/>
              </a:solidFill>
              <a:latin typeface="Fira Code Light"/>
              <a:ea typeface="Fira Code Light"/>
              <a:cs typeface="Fira Code Light"/>
              <a:sym typeface="Fira Code Light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1028700" y="9467850"/>
            <a:ext cx="22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16091416" y="9515475"/>
            <a:ext cx="116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pSp>
        <p:nvGrpSpPr>
          <p:cNvPr id="158" name="Google Shape;158;p3"/>
          <p:cNvGrpSpPr/>
          <p:nvPr/>
        </p:nvGrpSpPr>
        <p:grpSpPr>
          <a:xfrm>
            <a:off x="1409475" y="7646671"/>
            <a:ext cx="11915950" cy="1287000"/>
            <a:chOff x="1593000" y="2322568"/>
            <a:chExt cx="5957975" cy="643500"/>
          </a:xfrm>
        </p:grpSpPr>
        <p:sp>
          <p:nvSpPr>
            <p:cNvPr id="159" name="Google Shape;159;p3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Immediate Impact 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457200" rtl="0" algn="ctr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chemeClr val="dk1"/>
                  </a:solidFill>
                </a:rPr>
                <a:t>Provides real-time data for informed decision-making and rapid response.</a:t>
              </a:r>
              <a:endParaRPr sz="19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1409475" y="6035047"/>
            <a:ext cx="11915950" cy="1287000"/>
            <a:chOff x="1593000" y="2322568"/>
            <a:chExt cx="5957975" cy="643500"/>
          </a:xfrm>
        </p:grpSpPr>
        <p:sp>
          <p:nvSpPr>
            <p:cNvPr id="167" name="Google Shape;167;p3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Automated and Reliable 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chemeClr val="dk1"/>
                  </a:solidFill>
                </a:rPr>
                <a:t>No need for citizen reporting, with multiple connectivity options (Wi-Fi, GSM, 4G) to ensure continuous data flow even in remote areas.</a:t>
              </a:r>
              <a:endParaRPr sz="1600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4" name="Google Shape;174;p3"/>
          <p:cNvGrpSpPr/>
          <p:nvPr/>
        </p:nvGrpSpPr>
        <p:grpSpPr>
          <a:xfrm>
            <a:off x="1409475" y="4394855"/>
            <a:ext cx="11915950" cy="1287000"/>
            <a:chOff x="1593000" y="2322568"/>
            <a:chExt cx="5957975" cy="643500"/>
          </a:xfrm>
        </p:grpSpPr>
        <p:sp>
          <p:nvSpPr>
            <p:cNvPr id="175" name="Google Shape;175;p3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TERRA . An automated, real time environment monitoring system. That gathers Critical Flood Data 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2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4387850" y="2323753"/>
              <a:ext cx="14190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-615950" lvl="0" marL="9144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B786F"/>
                </a:buClr>
                <a:buSzPts val="2500"/>
                <a:buFont typeface="Roboto"/>
                <a:buChar char="●"/>
              </a:pPr>
              <a:r>
                <a:rPr lang="en-US" sz="2000">
                  <a:solidFill>
                    <a:schemeClr val="dk1"/>
                  </a:solidFill>
                </a:rPr>
                <a:t>Water levels,   </a:t>
              </a:r>
              <a:endParaRPr sz="2000">
                <a:solidFill>
                  <a:schemeClr val="dk1"/>
                </a:solidFill>
              </a:endParaRPr>
            </a:p>
            <a:p>
              <a:pPr indent="-61595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786F"/>
                </a:buClr>
                <a:buSzPts val="2500"/>
                <a:buFont typeface="Roboto"/>
                <a:buChar char="●"/>
              </a:pPr>
              <a:r>
                <a:rPr lang="en-US" sz="2000">
                  <a:solidFill>
                    <a:schemeClr val="dk1"/>
                  </a:solidFill>
                </a:rPr>
                <a:t>Humidity,</a:t>
              </a:r>
              <a:endParaRPr sz="2500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2" name="Google Shape;182;p3"/>
          <p:cNvSpPr/>
          <p:nvPr/>
        </p:nvSpPr>
        <p:spPr>
          <a:xfrm>
            <a:off x="1701204" y="6224541"/>
            <a:ext cx="907997" cy="907997"/>
          </a:xfrm>
          <a:custGeom>
            <a:rect b="b" l="l" r="r" t="t"/>
            <a:pathLst>
              <a:path extrusionOk="0" h="907997" w="907997">
                <a:moveTo>
                  <a:pt x="0" y="0"/>
                </a:moveTo>
                <a:lnTo>
                  <a:pt x="907996" y="0"/>
                </a:lnTo>
                <a:lnTo>
                  <a:pt x="907996" y="907997"/>
                </a:lnTo>
                <a:lnTo>
                  <a:pt x="0" y="907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3"/>
          <p:cNvSpPr/>
          <p:nvPr/>
        </p:nvSpPr>
        <p:spPr>
          <a:xfrm>
            <a:off x="1708587" y="4585559"/>
            <a:ext cx="893242" cy="907997"/>
          </a:xfrm>
          <a:custGeom>
            <a:rect b="b" l="l" r="r" t="t"/>
            <a:pathLst>
              <a:path extrusionOk="0" h="907997" w="893242">
                <a:moveTo>
                  <a:pt x="0" y="0"/>
                </a:moveTo>
                <a:lnTo>
                  <a:pt x="893242" y="0"/>
                </a:lnTo>
                <a:lnTo>
                  <a:pt x="893242" y="907997"/>
                </a:lnTo>
                <a:lnTo>
                  <a:pt x="0" y="907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3"/>
          <p:cNvSpPr/>
          <p:nvPr/>
        </p:nvSpPr>
        <p:spPr>
          <a:xfrm>
            <a:off x="1720491" y="7836178"/>
            <a:ext cx="869407" cy="907997"/>
          </a:xfrm>
          <a:custGeom>
            <a:rect b="b" l="l" r="r" t="t"/>
            <a:pathLst>
              <a:path extrusionOk="0" h="907997" w="869407">
                <a:moveTo>
                  <a:pt x="0" y="0"/>
                </a:moveTo>
                <a:lnTo>
                  <a:pt x="869407" y="0"/>
                </a:lnTo>
                <a:lnTo>
                  <a:pt x="869407" y="907997"/>
                </a:lnTo>
                <a:lnTo>
                  <a:pt x="0" y="907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3"/>
          <p:cNvSpPr/>
          <p:nvPr/>
        </p:nvSpPr>
        <p:spPr>
          <a:xfrm>
            <a:off x="9707150" y="4397250"/>
            <a:ext cx="28380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-6159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B786F"/>
              </a:buClr>
              <a:buSzPts val="25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</a:rPr>
              <a:t>Temperature</a:t>
            </a:r>
            <a:endParaRPr sz="2000">
              <a:solidFill>
                <a:schemeClr val="dk1"/>
              </a:solidFill>
            </a:endParaRPr>
          </a:p>
          <a:p>
            <a:pPr indent="-615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25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</a:rPr>
              <a:t>Air quality</a:t>
            </a:r>
            <a:endParaRPr sz="2500">
              <a:solidFill>
                <a:srgbClr val="1B786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1475" y="8200"/>
            <a:ext cx="18369475" cy="1027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4"/>
          <p:cNvCxnSpPr/>
          <p:nvPr/>
        </p:nvCxnSpPr>
        <p:spPr>
          <a:xfrm flipH="1">
            <a:off x="1028700" y="8496300"/>
            <a:ext cx="16230600" cy="1440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4"/>
          <p:cNvSpPr txBox="1"/>
          <p:nvPr/>
        </p:nvSpPr>
        <p:spPr>
          <a:xfrm>
            <a:off x="1028700" y="975825"/>
            <a:ext cx="9720000" cy="1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senal"/>
                <a:ea typeface="Arsenal"/>
                <a:cs typeface="Arsenal"/>
                <a:sym typeface="Arsenal"/>
              </a:rPr>
              <a:t>HOW IT WORKS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1028700" y="6390986"/>
            <a:ext cx="39240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HARDWARE COMPONENTS:</a:t>
            </a:r>
            <a:endParaRPr sz="2400"/>
          </a:p>
        </p:txBody>
      </p:sp>
      <p:sp>
        <p:nvSpPr>
          <p:cNvPr id="194" name="Google Shape;194;p4"/>
          <p:cNvSpPr txBox="1"/>
          <p:nvPr/>
        </p:nvSpPr>
        <p:spPr>
          <a:xfrm>
            <a:off x="1028700" y="6779335"/>
            <a:ext cx="4780500" cy="192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</a:rPr>
              <a:t>ESP8266, DHT22, MQ135, HC-04, TP4056 BMS, DC-DC boost converter, AC-DC 5V adapter, 18650 battery.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7100534" y="6760285"/>
            <a:ext cx="4487100" cy="192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Supports multiple networks and power sources for uninterrupted operation.</a:t>
            </a:r>
            <a:endParaRPr b="0" i="0" sz="21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12989214" y="6760285"/>
            <a:ext cx="4423800" cy="192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Daily updates on water levels, weather, and air quality deliver situational awareness.</a:t>
            </a:r>
            <a:endParaRPr b="0" i="0" sz="21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1028700" y="8705850"/>
            <a:ext cx="22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15914668" y="8753475"/>
            <a:ext cx="134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17259300" y="8448675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12989214" y="6390986"/>
            <a:ext cx="39240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REAL-TIME DATA:</a:t>
            </a:r>
            <a:endParaRPr sz="2400"/>
          </a:p>
        </p:txBody>
      </p:sp>
      <p:sp>
        <p:nvSpPr>
          <p:cNvPr id="201" name="Google Shape;201;p4"/>
          <p:cNvSpPr txBox="1"/>
          <p:nvPr/>
        </p:nvSpPr>
        <p:spPr>
          <a:xfrm>
            <a:off x="7141266" y="6345865"/>
            <a:ext cx="39240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CONNECTIVITY</a:t>
            </a:r>
            <a:r>
              <a:rPr b="1" i="0" lang="en-US" sz="2600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: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601" y="-5745650"/>
            <a:ext cx="9197276" cy="919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63000" y="-6301975"/>
            <a:ext cx="9753600" cy="975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5"/>
          <p:cNvGrpSpPr/>
          <p:nvPr/>
        </p:nvGrpSpPr>
        <p:grpSpPr>
          <a:xfrm>
            <a:off x="-339175" y="3375424"/>
            <a:ext cx="18966465" cy="7880582"/>
            <a:chOff x="0" y="-19050"/>
            <a:chExt cx="4995250" cy="2081506"/>
          </a:xfrm>
        </p:grpSpPr>
        <p:sp>
          <p:nvSpPr>
            <p:cNvPr id="209" name="Google Shape;209;p5"/>
            <p:cNvSpPr/>
            <p:nvPr/>
          </p:nvSpPr>
          <p:spPr>
            <a:xfrm>
              <a:off x="0" y="0"/>
              <a:ext cx="4995250" cy="2062456"/>
            </a:xfrm>
            <a:custGeom>
              <a:rect b="b" l="l" r="r" t="t"/>
              <a:pathLst>
                <a:path extrusionOk="0" h="2062456" w="4995250">
                  <a:moveTo>
                    <a:pt x="0" y="0"/>
                  </a:moveTo>
                  <a:lnTo>
                    <a:pt x="4995250" y="0"/>
                  </a:lnTo>
                  <a:lnTo>
                    <a:pt x="4995250" y="2062456"/>
                  </a:lnTo>
                  <a:lnTo>
                    <a:pt x="0" y="20624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0" name="Google Shape;210;p5"/>
            <p:cNvSpPr txBox="1"/>
            <p:nvPr/>
          </p:nvSpPr>
          <p:spPr>
            <a:xfrm>
              <a:off x="0" y="-19050"/>
              <a:ext cx="4995250" cy="2081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11" name="Google Shape;211;p5"/>
          <p:cNvGraphicFramePr/>
          <p:nvPr/>
        </p:nvGraphicFramePr>
        <p:xfrm>
          <a:off x="1761290" y="3680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{9B37DAE8-3ED3-4918-8F78-8C1BF750C990}</a:tableStyleId>
              </a:tblPr>
              <a:tblGrid>
                <a:gridCol w="4588950"/>
                <a:gridCol w="4694075"/>
                <a:gridCol w="5482500"/>
              </a:tblGrid>
              <a:tr h="77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Feature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TERRA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Traditional Systems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Real-Time Reporting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✔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✖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Fully Automated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✔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✖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Multi-Connectivity Support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✔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✖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Expanded Situational Data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✔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Limited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Scalability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✔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99" u="none" cap="none" strike="noStrike">
                          <a:solidFill>
                            <a:srgbClr val="000000"/>
                          </a:solidFill>
                          <a:latin typeface="Arsenal"/>
                          <a:ea typeface="Arsenal"/>
                          <a:cs typeface="Arsenal"/>
                          <a:sym typeface="Arsenal"/>
                        </a:rPr>
                        <a:t>✖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5"/>
          <p:cNvSpPr txBox="1"/>
          <p:nvPr/>
        </p:nvSpPr>
        <p:spPr>
          <a:xfrm>
            <a:off x="1649395" y="1504925"/>
            <a:ext cx="1134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9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WHY TERRA IS SUPERIOR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1761300" y="9623375"/>
            <a:ext cx="149892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48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Outcome: Faster, smarter flood response and proactive crisis management.</a:t>
            </a:r>
            <a:endParaRPr b="0" i="0" sz="4148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/>
          <p:nvPr/>
        </p:nvSpPr>
        <p:spPr>
          <a:xfrm>
            <a:off x="11077094" y="433818"/>
            <a:ext cx="6413102" cy="6437241"/>
          </a:xfrm>
          <a:custGeom>
            <a:rect b="b" l="l" r="r" t="t"/>
            <a:pathLst>
              <a:path extrusionOk="0" h="6437241" w="6413102">
                <a:moveTo>
                  <a:pt x="0" y="0"/>
                </a:moveTo>
                <a:lnTo>
                  <a:pt x="6413102" y="0"/>
                </a:lnTo>
                <a:lnTo>
                  <a:pt x="6413102" y="6437241"/>
                </a:lnTo>
                <a:lnTo>
                  <a:pt x="0" y="6437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6"/>
          <p:cNvSpPr/>
          <p:nvPr/>
        </p:nvSpPr>
        <p:spPr>
          <a:xfrm>
            <a:off x="1028700" y="5512373"/>
            <a:ext cx="1126904" cy="1126904"/>
          </a:xfrm>
          <a:custGeom>
            <a:rect b="b" l="l" r="r" t="t"/>
            <a:pathLst>
              <a:path extrusionOk="0" h="1126904" w="1126904">
                <a:moveTo>
                  <a:pt x="0" y="0"/>
                </a:moveTo>
                <a:lnTo>
                  <a:pt x="1126904" y="0"/>
                </a:lnTo>
                <a:lnTo>
                  <a:pt x="1126904" y="1126904"/>
                </a:lnTo>
                <a:lnTo>
                  <a:pt x="0" y="1126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6"/>
          <p:cNvSpPr/>
          <p:nvPr/>
        </p:nvSpPr>
        <p:spPr>
          <a:xfrm>
            <a:off x="10275607" y="5619220"/>
            <a:ext cx="1251839" cy="1251839"/>
          </a:xfrm>
          <a:custGeom>
            <a:rect b="b" l="l" r="r" t="t"/>
            <a:pathLst>
              <a:path extrusionOk="0" h="1251839" w="1251839">
                <a:moveTo>
                  <a:pt x="0" y="0"/>
                </a:moveTo>
                <a:lnTo>
                  <a:pt x="1251839" y="0"/>
                </a:lnTo>
                <a:lnTo>
                  <a:pt x="1251839" y="1251839"/>
                </a:lnTo>
                <a:lnTo>
                  <a:pt x="0" y="1251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1" name="Google Shape;221;p6"/>
          <p:cNvGrpSpPr/>
          <p:nvPr/>
        </p:nvGrpSpPr>
        <p:grpSpPr>
          <a:xfrm>
            <a:off x="-469816" y="3895344"/>
            <a:ext cx="19227635" cy="7381434"/>
            <a:chOff x="0" y="-47625"/>
            <a:chExt cx="5064068" cy="1944081"/>
          </a:xfrm>
        </p:grpSpPr>
        <p:sp>
          <p:nvSpPr>
            <p:cNvPr id="222" name="Google Shape;222;p6"/>
            <p:cNvSpPr/>
            <p:nvPr/>
          </p:nvSpPr>
          <p:spPr>
            <a:xfrm>
              <a:off x="0" y="0"/>
              <a:ext cx="5064068" cy="1896456"/>
            </a:xfrm>
            <a:custGeom>
              <a:rect b="b" l="l" r="r" t="t"/>
              <a:pathLst>
                <a:path extrusionOk="0" h="1896456" w="5064068">
                  <a:moveTo>
                    <a:pt x="0" y="0"/>
                  </a:moveTo>
                  <a:lnTo>
                    <a:pt x="5064068" y="0"/>
                  </a:lnTo>
                  <a:lnTo>
                    <a:pt x="5064068" y="1896456"/>
                  </a:lnTo>
                  <a:lnTo>
                    <a:pt x="0" y="1896456"/>
                  </a:lnTo>
                  <a:close/>
                </a:path>
              </a:pathLst>
            </a:custGeom>
            <a:solidFill>
              <a:srgbClr val="32909B"/>
            </a:solidFill>
            <a:ln>
              <a:noFill/>
            </a:ln>
          </p:spPr>
        </p:sp>
        <p:sp>
          <p:nvSpPr>
            <p:cNvPr id="223" name="Google Shape;223;p6"/>
            <p:cNvSpPr txBox="1"/>
            <p:nvPr/>
          </p:nvSpPr>
          <p:spPr>
            <a:xfrm>
              <a:off x="0" y="-47625"/>
              <a:ext cx="5064067" cy="1944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6"/>
          <p:cNvSpPr txBox="1"/>
          <p:nvPr/>
        </p:nvSpPr>
        <p:spPr>
          <a:xfrm>
            <a:off x="1028700" y="1537968"/>
            <a:ext cx="9448602" cy="1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TARGET MARKET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15969727" y="9515475"/>
            <a:ext cx="128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1333951" y="5205985"/>
            <a:ext cx="15620100" cy="4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461" lvl="1" marL="731723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9"/>
              <a:buFont typeface="Arimo"/>
              <a:buAutoNum type="arabicPeriod"/>
            </a:pPr>
            <a:r>
              <a:rPr b="1" i="0" lang="en-US" sz="298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Government Agencies: Disaster management, environmental agencies</a:t>
            </a:r>
            <a:endParaRPr sz="1000"/>
          </a:p>
          <a:p>
            <a:pPr indent="-340461" lvl="1" marL="731723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9"/>
              <a:buFont typeface="Arimo"/>
              <a:buAutoNum type="arabicPeriod"/>
            </a:pPr>
            <a:r>
              <a:rPr b="1" i="0" lang="en-US" sz="298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Local Authorities: City corporations and municipal bodies</a:t>
            </a:r>
            <a:endParaRPr sz="1000"/>
          </a:p>
          <a:p>
            <a:pPr indent="-340461" lvl="1" marL="731723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9"/>
              <a:buFont typeface="Arimo"/>
              <a:buAutoNum type="arabicPeriod"/>
            </a:pPr>
            <a:r>
              <a:rPr b="1" i="0" lang="en-US" sz="298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NGOs &amp; International Organizations: Focused on disaster relief and resilience</a:t>
            </a:r>
            <a:endParaRPr sz="1000"/>
          </a:p>
          <a:p>
            <a:pPr indent="-340461" lvl="1" marL="731723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9"/>
              <a:buFont typeface="Arimo"/>
              <a:buAutoNum type="arabicPeriod"/>
            </a:pPr>
            <a:r>
              <a:rPr b="1" i="0" lang="en-US" sz="298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Agriculture Sector: Farmers and agricultural bodies</a:t>
            </a:r>
            <a:endParaRPr sz="1000"/>
          </a:p>
          <a:p>
            <a:pPr indent="-340461" lvl="1" marL="731723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9"/>
              <a:buFont typeface="Arimo"/>
              <a:buAutoNum type="arabicPeriod"/>
            </a:pPr>
            <a:r>
              <a:rPr b="1" i="0" lang="en-US" sz="298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Construction and Real Estate: For property assessments in flood-prone areas</a:t>
            </a:r>
            <a:endParaRPr sz="1000"/>
          </a:p>
          <a:p>
            <a:pPr indent="-340461" lvl="1" marL="731723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9"/>
              <a:buFont typeface="Arimo"/>
              <a:buAutoNum type="arabicPeriod"/>
            </a:pPr>
            <a:r>
              <a:rPr b="1" i="0" lang="en-US" sz="298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Insurance Companies: Flood risk assessment data.</a:t>
            </a:r>
            <a:endParaRPr sz="1000"/>
          </a:p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8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5557" y="-1999520"/>
            <a:ext cx="9091032" cy="7295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/>
          <p:nvPr/>
        </p:nvSpPr>
        <p:spPr>
          <a:xfrm>
            <a:off x="12216189" y="-166497"/>
            <a:ext cx="5343393" cy="5309997"/>
          </a:xfrm>
          <a:custGeom>
            <a:rect b="b" l="l" r="r" t="t"/>
            <a:pathLst>
              <a:path extrusionOk="0" h="5309997" w="5343393">
                <a:moveTo>
                  <a:pt x="0" y="0"/>
                </a:moveTo>
                <a:lnTo>
                  <a:pt x="5343393" y="0"/>
                </a:lnTo>
                <a:lnTo>
                  <a:pt x="5343393" y="5309997"/>
                </a:lnTo>
                <a:lnTo>
                  <a:pt x="0" y="5309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3" name="Google Shape;233;p7"/>
          <p:cNvGrpSpPr/>
          <p:nvPr/>
        </p:nvGrpSpPr>
        <p:grpSpPr>
          <a:xfrm>
            <a:off x="-339175" y="4161600"/>
            <a:ext cx="18966465" cy="6380251"/>
            <a:chOff x="0" y="-19050"/>
            <a:chExt cx="4995250" cy="1607764"/>
          </a:xfrm>
        </p:grpSpPr>
        <p:sp>
          <p:nvSpPr>
            <p:cNvPr id="234" name="Google Shape;234;p7"/>
            <p:cNvSpPr/>
            <p:nvPr/>
          </p:nvSpPr>
          <p:spPr>
            <a:xfrm>
              <a:off x="0" y="0"/>
              <a:ext cx="4995250" cy="1588714"/>
            </a:xfrm>
            <a:custGeom>
              <a:rect b="b" l="l" r="r" t="t"/>
              <a:pathLst>
                <a:path extrusionOk="0" h="1588714" w="4995250">
                  <a:moveTo>
                    <a:pt x="0" y="0"/>
                  </a:moveTo>
                  <a:lnTo>
                    <a:pt x="4995250" y="0"/>
                  </a:lnTo>
                  <a:lnTo>
                    <a:pt x="4995250" y="1588714"/>
                  </a:lnTo>
                  <a:lnTo>
                    <a:pt x="0" y="15887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5" name="Google Shape;235;p7"/>
            <p:cNvSpPr txBox="1"/>
            <p:nvPr/>
          </p:nvSpPr>
          <p:spPr>
            <a:xfrm>
              <a:off x="0" y="-19050"/>
              <a:ext cx="4995250" cy="1607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7"/>
          <p:cNvSpPr txBox="1"/>
          <p:nvPr/>
        </p:nvSpPr>
        <p:spPr>
          <a:xfrm>
            <a:off x="15969727" y="9515475"/>
            <a:ext cx="128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1703275" y="929402"/>
            <a:ext cx="6956700" cy="3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REVENUE MODEL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1266110" y="5226645"/>
            <a:ext cx="15344700" cy="4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77024" lvl="1" marL="605101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</a:rPr>
              <a:t>Government Contracts:</a:t>
            </a:r>
            <a:r>
              <a:rPr i="0" lang="en-US" sz="2400" u="none" cap="none" strike="noStrike">
                <a:solidFill>
                  <a:srgbClr val="000000"/>
                </a:solidFill>
              </a:rPr>
              <a:t> Infrastructure planning and environmental data.</a:t>
            </a:r>
            <a:endParaRPr sz="2400"/>
          </a:p>
          <a:p>
            <a:pPr indent="-277024" lvl="1" marL="605101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</a:rPr>
              <a:t>Subscription Services:</a:t>
            </a:r>
            <a:r>
              <a:rPr i="0" lang="en-US" sz="2400" u="none" cap="none" strike="noStrike">
                <a:solidFill>
                  <a:srgbClr val="000000"/>
                </a:solidFill>
              </a:rPr>
              <a:t> Real-time data for government, local authorities, and private companies.</a:t>
            </a:r>
            <a:endParaRPr sz="2400"/>
          </a:p>
          <a:p>
            <a:pPr indent="-277024" lvl="1" marL="605101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</a:rPr>
              <a:t>Environmental Licensing and Testing:</a:t>
            </a:r>
            <a:r>
              <a:rPr i="0" lang="en-US" sz="2400" u="none" cap="none" strike="noStrike">
                <a:solidFill>
                  <a:srgbClr val="000000"/>
                </a:solidFill>
              </a:rPr>
              <a:t> Through partnerships with regulatory bodies.</a:t>
            </a:r>
            <a:endParaRPr sz="2400"/>
          </a:p>
          <a:p>
            <a:pPr indent="-277024" lvl="1" marL="605101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</a:rPr>
              <a:t>Consultancy and Planning:</a:t>
            </a:r>
            <a:r>
              <a:rPr i="0" lang="en-US" sz="2400" u="none" cap="none" strike="noStrike">
                <a:solidFill>
                  <a:srgbClr val="000000"/>
                </a:solidFill>
              </a:rPr>
              <a:t> Data-backed recommendations for flood-prone areas.</a:t>
            </a:r>
            <a:endParaRPr sz="2400"/>
          </a:p>
          <a:p>
            <a:pPr indent="-277024" lvl="1" marL="605101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</a:rPr>
              <a:t>Premium Alerts and Data Analytics:</a:t>
            </a:r>
            <a:r>
              <a:rPr i="0" lang="en-US" sz="2400" u="none" cap="none" strike="noStrike">
                <a:solidFill>
                  <a:srgbClr val="000000"/>
                </a:solidFill>
              </a:rPr>
              <a:t> For private entities like fishermen, transport companies, and NGOs.</a:t>
            </a:r>
            <a:endParaRPr sz="2400"/>
          </a:p>
          <a:p>
            <a:pPr indent="-277025" lvl="1" marL="605101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</a:rPr>
              <a:t>Training and Workshops</a:t>
            </a:r>
            <a:r>
              <a:rPr i="0" lang="en-US" sz="2400" u="none" cap="none" strike="noStrike">
                <a:solidFill>
                  <a:srgbClr val="000000"/>
                </a:solidFill>
              </a:rPr>
              <a:t>: Partnerships with NGOs and community organizations for disaster preparedness.</a:t>
            </a:r>
            <a:endParaRPr sz="2400"/>
          </a:p>
          <a:p>
            <a:pPr indent="-277025" lvl="1" marL="605101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</a:rPr>
              <a:t>Agriculture Sector </a:t>
            </a:r>
            <a:r>
              <a:rPr lang="en-US" sz="2400">
                <a:solidFill>
                  <a:schemeClr val="dk1"/>
                </a:solidFill>
              </a:rPr>
              <a:t>: Monitoring flood risks and climate impacts to support crop planning and reduce agricultural loss.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86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2" u="none" cap="none" strike="noStrike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g3038584c3ec_1_15"/>
          <p:cNvGrpSpPr/>
          <p:nvPr/>
        </p:nvGrpSpPr>
        <p:grpSpPr>
          <a:xfrm>
            <a:off x="-339175" y="2784000"/>
            <a:ext cx="18966655" cy="7894039"/>
            <a:chOff x="0" y="-19050"/>
            <a:chExt cx="4995300" cy="1439100"/>
          </a:xfrm>
        </p:grpSpPr>
        <p:sp>
          <p:nvSpPr>
            <p:cNvPr id="244" name="Google Shape;244;g3038584c3ec_1_15"/>
            <p:cNvSpPr/>
            <p:nvPr/>
          </p:nvSpPr>
          <p:spPr>
            <a:xfrm>
              <a:off x="0" y="0"/>
              <a:ext cx="4995250" cy="1420005"/>
            </a:xfrm>
            <a:custGeom>
              <a:rect b="b" l="l" r="r" t="t"/>
              <a:pathLst>
                <a:path extrusionOk="0" h="1420005" w="4995250">
                  <a:moveTo>
                    <a:pt x="0" y="0"/>
                  </a:moveTo>
                  <a:lnTo>
                    <a:pt x="4995250" y="0"/>
                  </a:lnTo>
                  <a:lnTo>
                    <a:pt x="4995250" y="1420005"/>
                  </a:lnTo>
                  <a:lnTo>
                    <a:pt x="0" y="14200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5" name="Google Shape;245;g3038584c3ec_1_15"/>
            <p:cNvSpPr txBox="1"/>
            <p:nvPr/>
          </p:nvSpPr>
          <p:spPr>
            <a:xfrm>
              <a:off x="0" y="-19050"/>
              <a:ext cx="4995300" cy="14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g3038584c3ec_1_15"/>
          <p:cNvSpPr txBox="1"/>
          <p:nvPr/>
        </p:nvSpPr>
        <p:spPr>
          <a:xfrm>
            <a:off x="1424302" y="895350"/>
            <a:ext cx="15115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9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Prototype and Future D</a:t>
            </a:r>
            <a:r>
              <a:rPr b="1" lang="en-US" sz="6399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evelopment:</a:t>
            </a:r>
            <a:r>
              <a:rPr b="1" lang="en-US" sz="6399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 </a:t>
            </a:r>
            <a:endParaRPr sz="800"/>
          </a:p>
        </p:txBody>
      </p:sp>
      <p:grpSp>
        <p:nvGrpSpPr>
          <p:cNvPr id="247" name="Google Shape;247;g3038584c3ec_1_15"/>
          <p:cNvGrpSpPr/>
          <p:nvPr/>
        </p:nvGrpSpPr>
        <p:grpSpPr>
          <a:xfrm>
            <a:off x="2028539" y="3353248"/>
            <a:ext cx="4264779" cy="5818246"/>
            <a:chOff x="1047918" y="283725"/>
            <a:chExt cx="2161132" cy="4076400"/>
          </a:xfrm>
        </p:grpSpPr>
        <p:sp>
          <p:nvSpPr>
            <p:cNvPr id="248" name="Google Shape;248;g3038584c3ec_1_1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EAD1DC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g3038584c3ec_1_15"/>
            <p:cNvSpPr/>
            <p:nvPr/>
          </p:nvSpPr>
          <p:spPr>
            <a:xfrm>
              <a:off x="1047918" y="341749"/>
              <a:ext cx="2048100" cy="1491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4141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g3038584c3ec_1_15"/>
            <p:cNvSpPr/>
            <p:nvPr/>
          </p:nvSpPr>
          <p:spPr>
            <a:xfrm>
              <a:off x="1233846" y="470611"/>
              <a:ext cx="1815000" cy="11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0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rPr>
                <a:t>Current prototype</a:t>
              </a:r>
              <a:endParaRPr b="1" sz="5000">
                <a:solidFill>
                  <a:srgbClr val="4141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1" name="Google Shape;251;g3038584c3ec_1_15"/>
            <p:cNvSpPr/>
            <p:nvPr/>
          </p:nvSpPr>
          <p:spPr>
            <a:xfrm rot="5400000">
              <a:off x="1969085" y="188866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g3038584c3ec_1_15"/>
            <p:cNvSpPr/>
            <p:nvPr/>
          </p:nvSpPr>
          <p:spPr>
            <a:xfrm>
              <a:off x="1118310" y="2071046"/>
              <a:ext cx="2030400" cy="21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-4064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14141"/>
                </a:buClr>
                <a:buSzPts val="2800"/>
                <a:buChar char="●"/>
              </a:pPr>
              <a:r>
                <a:rPr b="1" lang="en-US" sz="2800">
                  <a:solidFill>
                    <a:srgbClr val="414141"/>
                  </a:solidFill>
                </a:rPr>
                <a:t>Monitors water level, temperature, humidity, and </a:t>
              </a:r>
              <a:endParaRPr b="1" sz="2800">
                <a:solidFill>
                  <a:srgbClr val="414141"/>
                </a:solidFill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n-US" sz="2800">
                  <a:solidFill>
                    <a:srgbClr val="414141"/>
                  </a:solidFill>
                </a:rPr>
                <a:t>air quality in real time.</a:t>
              </a:r>
              <a:endParaRPr b="1" sz="2800">
                <a:solidFill>
                  <a:srgbClr val="4141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3" name="Google Shape;253;g3038584c3ec_1_15"/>
          <p:cNvGrpSpPr/>
          <p:nvPr/>
        </p:nvGrpSpPr>
        <p:grpSpPr>
          <a:xfrm>
            <a:off x="6888774" y="3363841"/>
            <a:ext cx="4264779" cy="5818246"/>
            <a:chOff x="1047918" y="283725"/>
            <a:chExt cx="2161132" cy="4076400"/>
          </a:xfrm>
        </p:grpSpPr>
        <p:sp>
          <p:nvSpPr>
            <p:cNvPr id="254" name="Google Shape;254;g3038584c3ec_1_1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C27BA0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g3038584c3ec_1_15"/>
            <p:cNvSpPr/>
            <p:nvPr/>
          </p:nvSpPr>
          <p:spPr>
            <a:xfrm>
              <a:off x="1047918" y="341749"/>
              <a:ext cx="2048100" cy="1491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4141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g3038584c3ec_1_15"/>
            <p:cNvSpPr/>
            <p:nvPr/>
          </p:nvSpPr>
          <p:spPr>
            <a:xfrm>
              <a:off x="1233846" y="470611"/>
              <a:ext cx="1815000" cy="11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0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rPr>
                <a:t>Future Expansion</a:t>
              </a:r>
              <a:endParaRPr b="1" sz="5000">
                <a:solidFill>
                  <a:srgbClr val="4141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g3038584c3ec_1_15"/>
            <p:cNvSpPr/>
            <p:nvPr/>
          </p:nvSpPr>
          <p:spPr>
            <a:xfrm rot="5400000">
              <a:off x="1969085" y="188866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g3038584c3ec_1_15"/>
            <p:cNvSpPr/>
            <p:nvPr/>
          </p:nvSpPr>
          <p:spPr>
            <a:xfrm>
              <a:off x="1118310" y="2071046"/>
              <a:ext cx="2030400" cy="21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-3556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Char char="●"/>
              </a:pPr>
              <a:r>
                <a:rPr b="1" lang="en-US" sz="2000">
                  <a:solidFill>
                    <a:schemeClr val="dk1"/>
                  </a:solidFill>
                </a:rPr>
                <a:t>Additional sensors and predictive models to monitor comprehensive environmental conditions (e.g., soil quality, river levels) for national situational awareness.</a:t>
              </a:r>
              <a:endParaRPr b="1" sz="2000">
                <a:solidFill>
                  <a:schemeClr val="dk1"/>
                </a:solidFill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b="1" sz="3000">
                <a:solidFill>
                  <a:srgbClr val="FEFEFE"/>
                </a:solidFill>
              </a:endParaRPr>
            </a:p>
          </p:txBody>
        </p:sp>
      </p:grpSp>
      <p:grpSp>
        <p:nvGrpSpPr>
          <p:cNvPr id="259" name="Google Shape;259;g3038584c3ec_1_15"/>
          <p:cNvGrpSpPr/>
          <p:nvPr/>
        </p:nvGrpSpPr>
        <p:grpSpPr>
          <a:xfrm>
            <a:off x="11965788" y="3363841"/>
            <a:ext cx="4264779" cy="5818246"/>
            <a:chOff x="1047918" y="283725"/>
            <a:chExt cx="2161132" cy="4076400"/>
          </a:xfrm>
        </p:grpSpPr>
        <p:sp>
          <p:nvSpPr>
            <p:cNvPr id="260" name="Google Shape;260;g3038584c3ec_1_1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g3038584c3ec_1_15"/>
            <p:cNvSpPr/>
            <p:nvPr/>
          </p:nvSpPr>
          <p:spPr>
            <a:xfrm>
              <a:off x="1047918" y="341749"/>
              <a:ext cx="2048100" cy="1491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4141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g3038584c3ec_1_15"/>
            <p:cNvSpPr/>
            <p:nvPr/>
          </p:nvSpPr>
          <p:spPr>
            <a:xfrm>
              <a:off x="1233846" y="470611"/>
              <a:ext cx="1815000" cy="11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0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rPr>
                <a:t>Long-term</a:t>
              </a:r>
              <a:endParaRPr b="1" sz="5000">
                <a:solidFill>
                  <a:srgbClr val="4141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800">
                  <a:solidFill>
                    <a:srgbClr val="414141"/>
                  </a:solidFill>
                  <a:latin typeface="Roboto"/>
                  <a:ea typeface="Roboto"/>
                  <a:cs typeface="Roboto"/>
                  <a:sym typeface="Roboto"/>
                </a:rPr>
                <a:t>Vision</a:t>
              </a:r>
              <a:endParaRPr b="1" sz="5800">
                <a:solidFill>
                  <a:srgbClr val="4141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3" name="Google Shape;263;g3038584c3ec_1_15"/>
            <p:cNvSpPr/>
            <p:nvPr/>
          </p:nvSpPr>
          <p:spPr>
            <a:xfrm rot="5400000">
              <a:off x="1969085" y="188866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g3038584c3ec_1_15"/>
            <p:cNvSpPr/>
            <p:nvPr/>
          </p:nvSpPr>
          <p:spPr>
            <a:xfrm>
              <a:off x="1118310" y="2071046"/>
              <a:ext cx="2030400" cy="21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-3619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Char char="●"/>
              </a:pPr>
              <a:r>
                <a:rPr b="1" lang="en-US" sz="2100">
                  <a:solidFill>
                    <a:schemeClr val="lt1"/>
                  </a:solidFill>
                </a:rPr>
                <a:t>Equip policymakers with full environmental data for informed decisions affecting agriculture, disaster response, and economic planning.</a:t>
              </a:r>
              <a:endParaRPr b="1" sz="2100">
                <a:solidFill>
                  <a:schemeClr val="lt1"/>
                </a:solidFill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b="1" sz="3000">
                <a:solidFill>
                  <a:srgbClr val="FEFEFE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0"/>
          <p:cNvGrpSpPr/>
          <p:nvPr/>
        </p:nvGrpSpPr>
        <p:grpSpPr>
          <a:xfrm>
            <a:off x="-335175" y="-1009652"/>
            <a:ext cx="18966465" cy="6252973"/>
            <a:chOff x="0" y="-19050"/>
            <a:chExt cx="4995250" cy="1107976"/>
          </a:xfrm>
        </p:grpSpPr>
        <p:sp>
          <p:nvSpPr>
            <p:cNvPr id="270" name="Google Shape;270;p10"/>
            <p:cNvSpPr/>
            <p:nvPr/>
          </p:nvSpPr>
          <p:spPr>
            <a:xfrm>
              <a:off x="0" y="0"/>
              <a:ext cx="4995250" cy="1088925"/>
            </a:xfrm>
            <a:custGeom>
              <a:rect b="b" l="l" r="r" t="t"/>
              <a:pathLst>
                <a:path extrusionOk="0" h="1088925" w="4995250">
                  <a:moveTo>
                    <a:pt x="0" y="0"/>
                  </a:moveTo>
                  <a:lnTo>
                    <a:pt x="4995250" y="0"/>
                  </a:lnTo>
                  <a:lnTo>
                    <a:pt x="4995250" y="1088925"/>
                  </a:lnTo>
                  <a:lnTo>
                    <a:pt x="0" y="10889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71" name="Google Shape;271;p10"/>
            <p:cNvSpPr txBox="1"/>
            <p:nvPr/>
          </p:nvSpPr>
          <p:spPr>
            <a:xfrm>
              <a:off x="0" y="-19050"/>
              <a:ext cx="4995250" cy="1107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0"/>
          <p:cNvSpPr/>
          <p:nvPr/>
        </p:nvSpPr>
        <p:spPr>
          <a:xfrm>
            <a:off x="10459025" y="4619550"/>
            <a:ext cx="7828985" cy="7617884"/>
          </a:xfrm>
          <a:custGeom>
            <a:rect b="b" l="l" r="r" t="t"/>
            <a:pathLst>
              <a:path extrusionOk="0" h="9925582" w="10134608">
                <a:moveTo>
                  <a:pt x="0" y="0"/>
                </a:moveTo>
                <a:lnTo>
                  <a:pt x="10134608" y="0"/>
                </a:lnTo>
                <a:lnTo>
                  <a:pt x="10134608" y="9925581"/>
                </a:lnTo>
                <a:lnTo>
                  <a:pt x="0" y="9925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0"/>
          <p:cNvSpPr txBox="1"/>
          <p:nvPr/>
        </p:nvSpPr>
        <p:spPr>
          <a:xfrm>
            <a:off x="1028700" y="5904675"/>
            <a:ext cx="74013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Arsenal"/>
                <a:ea typeface="Arsenal"/>
                <a:cs typeface="Arsenal"/>
                <a:sym typeface="Arsenal"/>
              </a:rPr>
              <a:t>COMPET</a:t>
            </a:r>
            <a:r>
              <a:rPr b="1" lang="en-US" sz="5599">
                <a:latin typeface="Arsenal"/>
                <a:ea typeface="Arsenal"/>
                <a:cs typeface="Arsenal"/>
                <a:sym typeface="Arsenal"/>
              </a:rPr>
              <a:t>ITIVE ADVANTAGES OF TERRA</a:t>
            </a:r>
            <a:endParaRPr sz="100"/>
          </a:p>
        </p:txBody>
      </p:sp>
      <p:sp>
        <p:nvSpPr>
          <p:cNvPr id="274" name="Google Shape;274;p10"/>
          <p:cNvSpPr txBox="1"/>
          <p:nvPr/>
        </p:nvSpPr>
        <p:spPr>
          <a:xfrm>
            <a:off x="1028700" y="2484550"/>
            <a:ext cx="49722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</a:rPr>
              <a:t>Uninterrupted, automated monitoring provides accuracy.</a:t>
            </a:r>
            <a:endParaRPr b="1" sz="3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99">
              <a:solidFill>
                <a:srgbClr val="FFFFFF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1036675" y="1228450"/>
            <a:ext cx="4972200" cy="81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   </a:t>
            </a:r>
            <a:r>
              <a:rPr b="1" lang="en-US" sz="2400">
                <a:solidFill>
                  <a:schemeClr val="dk1"/>
                </a:solidFill>
              </a:rPr>
              <a:t>Real-Time, Continuous Data</a:t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6661950" y="2484550"/>
            <a:ext cx="4972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</a:rPr>
              <a:t>Multi-network support (Wi-Fi, GSM, 4G) and multiple power options to operate in remote, resource-limited areas.</a:t>
            </a:r>
            <a:endParaRPr b="1" sz="3000">
              <a:solidFill>
                <a:srgbClr val="FFFFFF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6669925" y="1228450"/>
            <a:ext cx="4972200" cy="81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I</a:t>
            </a:r>
            <a:r>
              <a:rPr b="1" lang="en-US" sz="2400">
                <a:solidFill>
                  <a:schemeClr val="dk1"/>
                </a:solidFill>
              </a:rPr>
              <a:t>nfrastructure Adaptability: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12303175" y="2484550"/>
            <a:ext cx="49722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</a:rPr>
              <a:t>Uninterrupted, automated monitoring provides accuracy.</a:t>
            </a:r>
            <a:endParaRPr b="1" sz="3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99">
              <a:solidFill>
                <a:srgbClr val="FFFFFF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12311150" y="1228450"/>
            <a:ext cx="4972200" cy="81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   Real-Time, Continuous Data</a:t>
            </a:r>
            <a:endParaRPr b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110f31e096_0_0"/>
          <p:cNvSpPr/>
          <p:nvPr/>
        </p:nvSpPr>
        <p:spPr>
          <a:xfrm>
            <a:off x="9143999" y="-222350"/>
            <a:ext cx="9603368" cy="10731688"/>
          </a:xfrm>
          <a:custGeom>
            <a:rect b="b" l="l" r="r" t="t"/>
            <a:pathLst>
              <a:path extrusionOk="0" h="1420005" w="4995250">
                <a:moveTo>
                  <a:pt x="0" y="0"/>
                </a:moveTo>
                <a:lnTo>
                  <a:pt x="4995250" y="0"/>
                </a:lnTo>
                <a:lnTo>
                  <a:pt x="4995250" y="1420005"/>
                </a:lnTo>
                <a:lnTo>
                  <a:pt x="0" y="14200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86" name="Google Shape;286;g3110f31e096_0_0"/>
          <p:cNvGrpSpPr/>
          <p:nvPr/>
        </p:nvGrpSpPr>
        <p:grpSpPr>
          <a:xfrm>
            <a:off x="9807595" y="1018612"/>
            <a:ext cx="6956469" cy="8638707"/>
            <a:chOff x="1047918" y="283725"/>
            <a:chExt cx="2161132" cy="4076400"/>
          </a:xfrm>
        </p:grpSpPr>
        <p:sp>
          <p:nvSpPr>
            <p:cNvPr id="287" name="Google Shape;287;g3110f31e096_0_0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EAD1DC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g3110f31e096_0_0"/>
            <p:cNvSpPr/>
            <p:nvPr/>
          </p:nvSpPr>
          <p:spPr>
            <a:xfrm>
              <a:off x="1047918" y="341749"/>
              <a:ext cx="2048100" cy="1491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4141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g3110f31e096_0_0"/>
            <p:cNvSpPr/>
            <p:nvPr/>
          </p:nvSpPr>
          <p:spPr>
            <a:xfrm>
              <a:off x="1233846" y="470611"/>
              <a:ext cx="1815000" cy="11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l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5299">
                  <a:solidFill>
                    <a:schemeClr val="dk1"/>
                  </a:solidFill>
                  <a:latin typeface="Arsenal"/>
                  <a:ea typeface="Arsenal"/>
                  <a:cs typeface="Arsenal"/>
                  <a:sym typeface="Arsenal"/>
                </a:rPr>
                <a:t>Government’s Loss Due to flood </a:t>
              </a:r>
              <a:endParaRPr sz="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0">
                <a:solidFill>
                  <a:srgbClr val="4141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0" name="Google Shape;290;g3110f31e096_0_0"/>
            <p:cNvSpPr/>
            <p:nvPr/>
          </p:nvSpPr>
          <p:spPr>
            <a:xfrm rot="5400000">
              <a:off x="1969085" y="188866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g3110f31e096_0_0"/>
            <p:cNvSpPr/>
            <p:nvPr/>
          </p:nvSpPr>
          <p:spPr>
            <a:xfrm>
              <a:off x="1118310" y="2071046"/>
              <a:ext cx="2030400" cy="21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414141"/>
                  </a:solidFill>
                </a:rPr>
                <a:t>Bangladesh Government spends around </a:t>
              </a:r>
              <a:r>
                <a:rPr lang="en-US" sz="2700">
                  <a:solidFill>
                    <a:srgbClr val="202124"/>
                  </a:solidFill>
                </a:rPr>
                <a:t>119,519,600,000.00 bangladeshi taka per year due to flood damage because of : </a:t>
              </a:r>
              <a:endParaRPr sz="2700">
                <a:solidFill>
                  <a:srgbClr val="202124"/>
                </a:solidFill>
              </a:endParaRPr>
            </a:p>
            <a:p>
              <a:pPr indent="-4000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202124"/>
                </a:buClr>
                <a:buSzPts val="2700"/>
                <a:buChar char="●"/>
              </a:pPr>
              <a:r>
                <a:rPr b="1" lang="en-US" sz="2700">
                  <a:solidFill>
                    <a:srgbClr val="202124"/>
                  </a:solidFill>
                </a:rPr>
                <a:t>Delayed Prediction </a:t>
              </a:r>
              <a:endParaRPr b="1" sz="2700">
                <a:solidFill>
                  <a:srgbClr val="202124"/>
                </a:solidFill>
              </a:endParaRPr>
            </a:p>
            <a:p>
              <a:pPr indent="-4000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02124"/>
                </a:buClr>
                <a:buSzPts val="2700"/>
                <a:buChar char="●"/>
              </a:pPr>
              <a:r>
                <a:rPr b="1" lang="en-US" sz="2700">
                  <a:solidFill>
                    <a:srgbClr val="202124"/>
                  </a:solidFill>
                </a:rPr>
                <a:t>Unreliable Statistical Data </a:t>
              </a:r>
              <a:endParaRPr b="1" sz="2700">
                <a:solidFill>
                  <a:srgbClr val="202124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05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b="1" sz="2800">
                <a:solidFill>
                  <a:srgbClr val="41414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/>
          <p:nvPr/>
        </p:nvSpPr>
        <p:spPr>
          <a:xfrm>
            <a:off x="10455683" y="230806"/>
            <a:ext cx="7284132" cy="7238606"/>
          </a:xfrm>
          <a:custGeom>
            <a:rect b="b" l="l" r="r" t="t"/>
            <a:pathLst>
              <a:path extrusionOk="0" h="7238606" w="7284132">
                <a:moveTo>
                  <a:pt x="0" y="0"/>
                </a:moveTo>
                <a:lnTo>
                  <a:pt x="7284132" y="0"/>
                </a:lnTo>
                <a:lnTo>
                  <a:pt x="7284132" y="7238606"/>
                </a:lnTo>
                <a:lnTo>
                  <a:pt x="0" y="7238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8"/>
          <p:cNvSpPr txBox="1"/>
          <p:nvPr/>
        </p:nvSpPr>
        <p:spPr>
          <a:xfrm>
            <a:off x="1424311" y="895350"/>
            <a:ext cx="6923439" cy="2431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FINANCIAL PROJECTIONS: </a:t>
            </a:r>
            <a:endParaRPr/>
          </a:p>
        </p:txBody>
      </p:sp>
      <p:grpSp>
        <p:nvGrpSpPr>
          <p:cNvPr id="298" name="Google Shape;298;p8"/>
          <p:cNvGrpSpPr/>
          <p:nvPr/>
        </p:nvGrpSpPr>
        <p:grpSpPr>
          <a:xfrm>
            <a:off x="-339319" y="4828219"/>
            <a:ext cx="18966655" cy="5464119"/>
            <a:chOff x="0" y="-19050"/>
            <a:chExt cx="4995300" cy="1439100"/>
          </a:xfrm>
        </p:grpSpPr>
        <p:sp>
          <p:nvSpPr>
            <p:cNvPr id="299" name="Google Shape;299;p8"/>
            <p:cNvSpPr/>
            <p:nvPr/>
          </p:nvSpPr>
          <p:spPr>
            <a:xfrm>
              <a:off x="0" y="0"/>
              <a:ext cx="4995250" cy="1420005"/>
            </a:xfrm>
            <a:custGeom>
              <a:rect b="b" l="l" r="r" t="t"/>
              <a:pathLst>
                <a:path extrusionOk="0" h="1420005" w="4995250">
                  <a:moveTo>
                    <a:pt x="0" y="0"/>
                  </a:moveTo>
                  <a:lnTo>
                    <a:pt x="4995250" y="0"/>
                  </a:lnTo>
                  <a:lnTo>
                    <a:pt x="4995250" y="1420005"/>
                  </a:lnTo>
                  <a:lnTo>
                    <a:pt x="0" y="14200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0" name="Google Shape;300;p8"/>
            <p:cNvSpPr txBox="1"/>
            <p:nvPr/>
          </p:nvSpPr>
          <p:spPr>
            <a:xfrm>
              <a:off x="0" y="-19050"/>
              <a:ext cx="4995300" cy="14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8"/>
          <p:cNvGrpSpPr/>
          <p:nvPr/>
        </p:nvGrpSpPr>
        <p:grpSpPr>
          <a:xfrm>
            <a:off x="11640516" y="5734100"/>
            <a:ext cx="4705095" cy="2184434"/>
            <a:chOff x="4526673" y="2307256"/>
            <a:chExt cx="2480151" cy="1279392"/>
          </a:xfrm>
        </p:grpSpPr>
        <p:sp>
          <p:nvSpPr>
            <p:cNvPr id="302" name="Google Shape;302;p8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3" name="Google Shape;303;p8"/>
            <p:cNvGrpSpPr/>
            <p:nvPr/>
          </p:nvGrpSpPr>
          <p:grpSpPr>
            <a:xfrm>
              <a:off x="4526673" y="2307256"/>
              <a:ext cx="2480151" cy="1279392"/>
              <a:chOff x="4526673" y="2307256"/>
              <a:chExt cx="2480151" cy="1279392"/>
            </a:xfrm>
          </p:grpSpPr>
          <p:grpSp>
            <p:nvGrpSpPr>
              <p:cNvPr id="304" name="Google Shape;304;p8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305" name="Google Shape;305;p8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06" name="Google Shape;306;p8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82850" lIns="182850" spcFirstLastPara="1" rIns="182850" wrap="square" tIns="1828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7" name="Google Shape;307;p8"/>
              <p:cNvSpPr txBox="1"/>
              <p:nvPr/>
            </p:nvSpPr>
            <p:spPr>
              <a:xfrm>
                <a:off x="4526673" y="3215248"/>
                <a:ext cx="10053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850" lIns="182850" spcFirstLastPara="1" rIns="182850" wrap="square" tIns="18285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3200"/>
                  </a:spcAft>
                  <a:buNone/>
                </a:pPr>
                <a:r>
                  <a:rPr b="1" lang="en-US" sz="2400">
                    <a:latin typeface="Roboto"/>
                    <a:ea typeface="Roboto"/>
                    <a:cs typeface="Roboto"/>
                    <a:sym typeface="Roboto"/>
                  </a:rPr>
                  <a:t>Year 3</a:t>
                </a:r>
                <a:endParaRPr b="1" sz="24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8" name="Google Shape;308;p8"/>
              <p:cNvSpPr txBox="1"/>
              <p:nvPr/>
            </p:nvSpPr>
            <p:spPr>
              <a:xfrm>
                <a:off x="4753224" y="2307256"/>
                <a:ext cx="2253600" cy="51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202124"/>
                    </a:solidFill>
                    <a:highlight>
                      <a:srgbClr val="FFFFFF"/>
                    </a:highlight>
                  </a:rPr>
                  <a:t>1,792,794,000.00 Bangladeshi Taka</a:t>
                </a:r>
                <a:endParaRPr b="1" sz="1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09" name="Google Shape;309;p8"/>
          <p:cNvGrpSpPr/>
          <p:nvPr/>
        </p:nvGrpSpPr>
        <p:grpSpPr>
          <a:xfrm>
            <a:off x="2486102" y="5734100"/>
            <a:ext cx="6051379" cy="2184459"/>
            <a:chOff x="-298805" y="2307257"/>
            <a:chExt cx="3189805" cy="1279407"/>
          </a:xfrm>
        </p:grpSpPr>
        <p:sp>
          <p:nvSpPr>
            <p:cNvPr id="310" name="Google Shape;310;p8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1" name="Google Shape;311;p8"/>
            <p:cNvGrpSpPr/>
            <p:nvPr/>
          </p:nvGrpSpPr>
          <p:grpSpPr>
            <a:xfrm>
              <a:off x="-298805" y="2307257"/>
              <a:ext cx="2480100" cy="1279407"/>
              <a:chOff x="-298805" y="2307257"/>
              <a:chExt cx="2480100" cy="1279407"/>
            </a:xfrm>
          </p:grpSpPr>
          <p:sp>
            <p:nvSpPr>
              <p:cNvPr id="312" name="Google Shape;312;p8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850" lIns="182850" spcFirstLastPara="1" rIns="182850" wrap="square" tIns="18285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3200"/>
                  </a:spcAft>
                  <a:buNone/>
                </a:pPr>
                <a:r>
                  <a:rPr b="1" lang="en-US" sz="2400">
                    <a:latin typeface="Roboto"/>
                    <a:ea typeface="Roboto"/>
                    <a:cs typeface="Roboto"/>
                    <a:sym typeface="Roboto"/>
                  </a:rPr>
                  <a:t>Year 1</a:t>
                </a:r>
                <a:endParaRPr b="1" sz="24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313" name="Google Shape;313;p8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314" name="Google Shape;314;p8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15" name="Google Shape;315;p8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82850" lIns="182850" spcFirstLastPara="1" rIns="182850" wrap="square" tIns="1828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6" name="Google Shape;316;p8"/>
              <p:cNvSpPr txBox="1"/>
              <p:nvPr/>
            </p:nvSpPr>
            <p:spPr>
              <a:xfrm>
                <a:off x="-298805" y="2307257"/>
                <a:ext cx="2480100" cy="54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850" lIns="182850" spcFirstLastPara="1" rIns="182850" wrap="square" tIns="182850">
                <a:noAutofit/>
              </a:bodyPr>
              <a:lstStyle/>
              <a:p>
                <a:pPr indent="0" lvl="0" marL="0" rtl="0" algn="ctr">
                  <a:lnSpc>
                    <a:spcPct val="3428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US" sz="1800">
                    <a:solidFill>
                      <a:srgbClr val="202124"/>
                    </a:solidFill>
                    <a:highlight>
                      <a:srgbClr val="FFFFFF"/>
                    </a:highlight>
                  </a:rPr>
                  <a:t>119,519,600.00 Bangladeshi Taka</a:t>
                </a:r>
                <a:endParaRPr sz="1800">
                  <a:solidFill>
                    <a:srgbClr val="1F1F1F"/>
                  </a:solidFill>
                  <a:highlight>
                    <a:srgbClr val="FFFFFF"/>
                  </a:highlight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6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6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3200"/>
                  </a:spcAft>
                  <a:buNone/>
                </a:pPr>
                <a:r>
                  <a:t/>
                </a:r>
                <a:endParaRPr b="1" sz="16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17" name="Google Shape;317;p8"/>
          <p:cNvGrpSpPr/>
          <p:nvPr/>
        </p:nvGrpSpPr>
        <p:grpSpPr>
          <a:xfrm>
            <a:off x="6923077" y="6409103"/>
            <a:ext cx="5329594" cy="2963468"/>
            <a:chOff x="2040015" y="2702596"/>
            <a:chExt cx="2809338" cy="1735661"/>
          </a:xfrm>
        </p:grpSpPr>
        <p:sp>
          <p:nvSpPr>
            <p:cNvPr id="318" name="Google Shape;318;p8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9" name="Google Shape;319;p8"/>
            <p:cNvGrpSpPr/>
            <p:nvPr/>
          </p:nvGrpSpPr>
          <p:grpSpPr>
            <a:xfrm>
              <a:off x="2040015" y="2702596"/>
              <a:ext cx="2294700" cy="1735661"/>
              <a:chOff x="2040015" y="2702596"/>
              <a:chExt cx="2294700" cy="1735661"/>
            </a:xfrm>
          </p:grpSpPr>
          <p:sp>
            <p:nvSpPr>
              <p:cNvPr id="320" name="Google Shape;320;p8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850" lIns="182850" spcFirstLastPara="1" rIns="182850" wrap="square" tIns="18285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3200"/>
                  </a:spcAft>
                  <a:buNone/>
                </a:pPr>
                <a:r>
                  <a:rPr b="1" lang="en-US" sz="2400">
                    <a:latin typeface="Roboto"/>
                    <a:ea typeface="Roboto"/>
                    <a:cs typeface="Roboto"/>
                    <a:sym typeface="Roboto"/>
                  </a:rPr>
                  <a:t>Year 2</a:t>
                </a:r>
                <a:endParaRPr b="1" sz="24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321" name="Google Shape;321;p8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322" name="Google Shape;322;p8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23" name="Google Shape;323;p8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82850" lIns="182850" spcFirstLastPara="1" rIns="182850" wrap="square" tIns="1828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4" name="Google Shape;324;p8"/>
              <p:cNvSpPr txBox="1"/>
              <p:nvPr/>
            </p:nvSpPr>
            <p:spPr>
              <a:xfrm>
                <a:off x="2040015" y="3494457"/>
                <a:ext cx="2294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lnSpc>
                    <a:spcPct val="3428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US" sz="1800">
                    <a:solidFill>
                      <a:srgbClr val="202124"/>
                    </a:solidFill>
                    <a:highlight>
                      <a:srgbClr val="FFFFFF"/>
                    </a:highlight>
                  </a:rPr>
                  <a:t>1,195,196,000.00 Bangladeshi Taka</a:t>
                </a:r>
                <a:endParaRPr b="1" sz="1800">
                  <a:solidFill>
                    <a:srgbClr val="202124"/>
                  </a:solidFill>
                  <a:highlight>
                    <a:srgbClr val="FFFFFF"/>
                  </a:highlight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1050">
                  <a:solidFill>
                    <a:srgbClr val="1F1F1F"/>
                  </a:solidFill>
                  <a:highlight>
                    <a:srgbClr val="FFFFFF"/>
                  </a:highlight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6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6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3200"/>
                  </a:spcAft>
                  <a:buNone/>
                </a:pPr>
                <a:r>
                  <a:t/>
                </a:r>
                <a:endParaRPr b="1" sz="16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1"/>
          <p:cNvPicPr preferRelativeResize="0"/>
          <p:nvPr/>
        </p:nvPicPr>
        <p:blipFill rotWithShape="1">
          <a:blip r:embed="rId3">
            <a:alphaModFix/>
          </a:blip>
          <a:srcRect b="0" l="0" r="0" t="14170"/>
          <a:stretch/>
        </p:blipFill>
        <p:spPr>
          <a:xfrm>
            <a:off x="1035150" y="3429000"/>
            <a:ext cx="16217702" cy="712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1"/>
          <p:cNvSpPr/>
          <p:nvPr/>
        </p:nvSpPr>
        <p:spPr>
          <a:xfrm>
            <a:off x="13118700" y="-809624"/>
            <a:ext cx="5169301" cy="5130531"/>
          </a:xfrm>
          <a:custGeom>
            <a:rect b="b" l="l" r="r" t="t"/>
            <a:pathLst>
              <a:path extrusionOk="0" h="7893124" w="7952770">
                <a:moveTo>
                  <a:pt x="0" y="0"/>
                </a:moveTo>
                <a:lnTo>
                  <a:pt x="7952770" y="0"/>
                </a:lnTo>
                <a:lnTo>
                  <a:pt x="7952770" y="7893125"/>
                </a:lnTo>
                <a:lnTo>
                  <a:pt x="0" y="789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11"/>
          <p:cNvSpPr txBox="1"/>
          <p:nvPr/>
        </p:nvSpPr>
        <p:spPr>
          <a:xfrm>
            <a:off x="1218500" y="671875"/>
            <a:ext cx="104301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rsenal"/>
                <a:ea typeface="Arsenal"/>
                <a:cs typeface="Arsenal"/>
                <a:sym typeface="Arsenal"/>
              </a:rPr>
              <a:t>Funding Requirements</a:t>
            </a:r>
            <a:endParaRPr sz="100"/>
          </a:p>
        </p:txBody>
      </p:sp>
      <p:sp>
        <p:nvSpPr>
          <p:cNvPr id="332" name="Google Shape;332;p11"/>
          <p:cNvSpPr txBox="1"/>
          <p:nvPr/>
        </p:nvSpPr>
        <p:spPr>
          <a:xfrm>
            <a:off x="1218500" y="2132575"/>
            <a:ext cx="11900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Goal</a:t>
            </a:r>
            <a:r>
              <a:rPr lang="en-US" sz="2500">
                <a:solidFill>
                  <a:schemeClr val="dk1"/>
                </a:solidFill>
              </a:rPr>
              <a:t>: 1,419,575BDT to scale TERRA for deployment and enhancements.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"/>
          <p:cNvSpPr txBox="1"/>
          <p:nvPr/>
        </p:nvSpPr>
        <p:spPr>
          <a:xfrm>
            <a:off x="4705775" y="3650550"/>
            <a:ext cx="9192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Thank you</a:t>
            </a:r>
            <a:endParaRPr b="1" sz="1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a8714e965ea157c_16"/>
          <p:cNvSpPr txBox="1"/>
          <p:nvPr>
            <p:ph type="title"/>
          </p:nvPr>
        </p:nvSpPr>
        <p:spPr>
          <a:xfrm>
            <a:off x="457200" y="274650"/>
            <a:ext cx="17830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 of the product </a:t>
            </a:r>
            <a:endParaRPr/>
          </a:p>
        </p:txBody>
      </p:sp>
      <p:sp>
        <p:nvSpPr>
          <p:cNvPr id="343" name="Google Shape;343;g1a8714e965ea157c_16"/>
          <p:cNvSpPr txBox="1"/>
          <p:nvPr>
            <p:ph idx="1" type="body"/>
          </p:nvPr>
        </p:nvSpPr>
        <p:spPr>
          <a:xfrm>
            <a:off x="457200" y="1600200"/>
            <a:ext cx="17307000" cy="766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57200" rtl="0" algn="l">
              <a:spcBef>
                <a:spcPts val="36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Water body </a:t>
            </a:r>
            <a:r>
              <a:rPr b="1" lang="en-US" sz="3800"/>
              <a:t>monitoring 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Sustainable aquaculture 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Fish population dynamics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Water body health assessment 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Biological productivity 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Livestock management 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Climatic situation of an area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Pollution assessment 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Carbon sink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Utilisation of idle water body 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City health monitoring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Influxes </a:t>
            </a:r>
            <a:endParaRPr b="1"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b="1" lang="en-US" sz="3800"/>
              <a:t>Future research potentialities </a:t>
            </a:r>
            <a:endParaRPr b="1" sz="3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a8714e965ea157c_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1a8714e965ea157c_11"/>
          <p:cNvSpPr txBox="1"/>
          <p:nvPr>
            <p:ph idx="1" type="body"/>
          </p:nvPr>
        </p:nvSpPr>
        <p:spPr>
          <a:xfrm>
            <a:off x="457200" y="1600200"/>
            <a:ext cx="17402100" cy="771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4900"/>
              <a:t>Sensor </a:t>
            </a:r>
            <a:r>
              <a:rPr b="1" lang="en-US" sz="4900"/>
              <a:t>Requirements </a:t>
            </a:r>
            <a:endParaRPr b="1" sz="4900"/>
          </a:p>
          <a:p>
            <a:pPr indent="-539750" lvl="0" marL="457200" rtl="0" algn="l">
              <a:spcBef>
                <a:spcPts val="360"/>
              </a:spcBef>
              <a:spcAft>
                <a:spcPts val="0"/>
              </a:spcAft>
              <a:buSzPts val="4900"/>
              <a:buChar char="•"/>
            </a:pPr>
            <a:r>
              <a:rPr b="1" lang="en-US" sz="4900"/>
              <a:t>Do sensor</a:t>
            </a:r>
            <a:endParaRPr b="1" sz="4900"/>
          </a:p>
          <a:p>
            <a:pPr indent="-539750" lvl="0" marL="457200" rtl="0" algn="l">
              <a:spcBef>
                <a:spcPts val="0"/>
              </a:spcBef>
              <a:spcAft>
                <a:spcPts val="0"/>
              </a:spcAft>
              <a:buSzPts val="4900"/>
              <a:buChar char="•"/>
            </a:pPr>
            <a:r>
              <a:rPr b="1" lang="en-US" sz="4900"/>
              <a:t>Turbidity sensor</a:t>
            </a:r>
            <a:endParaRPr b="1" sz="4900"/>
          </a:p>
          <a:p>
            <a:pPr indent="-539750" lvl="0" marL="457200" rtl="0" algn="l">
              <a:spcBef>
                <a:spcPts val="0"/>
              </a:spcBef>
              <a:spcAft>
                <a:spcPts val="0"/>
              </a:spcAft>
              <a:buSzPts val="4900"/>
              <a:buChar char="•"/>
            </a:pPr>
            <a:r>
              <a:rPr b="1" lang="en-US" sz="4900"/>
              <a:t>Depth sensor</a:t>
            </a:r>
            <a:endParaRPr b="1" sz="4900"/>
          </a:p>
          <a:p>
            <a:pPr indent="-539750" lvl="0" marL="457200" rtl="0" algn="l">
              <a:spcBef>
                <a:spcPts val="0"/>
              </a:spcBef>
              <a:spcAft>
                <a:spcPts val="0"/>
              </a:spcAft>
              <a:buSzPts val="4900"/>
              <a:buChar char="•"/>
            </a:pPr>
            <a:r>
              <a:rPr b="1" lang="en-US" sz="4900"/>
              <a:t>ph sensor </a:t>
            </a:r>
            <a:endParaRPr b="1" sz="4900"/>
          </a:p>
          <a:p>
            <a:pPr indent="-539750" lvl="0" marL="457200" rtl="0" algn="l">
              <a:spcBef>
                <a:spcPts val="0"/>
              </a:spcBef>
              <a:spcAft>
                <a:spcPts val="0"/>
              </a:spcAft>
              <a:buSzPts val="4900"/>
              <a:buChar char="•"/>
            </a:pPr>
            <a:r>
              <a:rPr b="1" lang="en-US" sz="4900"/>
              <a:t>Nitrogen amonia sensor</a:t>
            </a:r>
            <a:endParaRPr b="1" sz="4900"/>
          </a:p>
          <a:p>
            <a:pPr indent="-539750" lvl="0" marL="457200" rtl="0" algn="l">
              <a:spcBef>
                <a:spcPts val="0"/>
              </a:spcBef>
              <a:spcAft>
                <a:spcPts val="0"/>
              </a:spcAft>
              <a:buSzPts val="4900"/>
              <a:buChar char="•"/>
            </a:pPr>
            <a:r>
              <a:rPr b="1" lang="en-US" sz="4900"/>
              <a:t>Temperature sensor</a:t>
            </a:r>
            <a:endParaRPr b="1" sz="4900"/>
          </a:p>
          <a:p>
            <a:pPr indent="-539750" lvl="0" marL="457200" rtl="0" algn="l">
              <a:spcBef>
                <a:spcPts val="0"/>
              </a:spcBef>
              <a:spcAft>
                <a:spcPts val="0"/>
              </a:spcAft>
              <a:buSzPts val="4900"/>
              <a:buChar char="•"/>
            </a:pPr>
            <a:r>
              <a:rPr b="1" lang="en-US" sz="4900"/>
              <a:t>Salinity sensor </a:t>
            </a:r>
            <a:endParaRPr b="1" sz="49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a8714e965ea157c_5"/>
          <p:cNvSpPr txBox="1"/>
          <p:nvPr>
            <p:ph type="title"/>
          </p:nvPr>
        </p:nvSpPr>
        <p:spPr>
          <a:xfrm>
            <a:off x="457200" y="274652"/>
            <a:ext cx="171165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Smart aquaculture Monitoring system</a:t>
            </a:r>
            <a:endParaRPr b="1"/>
          </a:p>
        </p:txBody>
      </p:sp>
      <p:sp>
        <p:nvSpPr>
          <p:cNvPr id="355" name="Google Shape;355;g1a8714e965ea157c_5"/>
          <p:cNvSpPr txBox="1"/>
          <p:nvPr>
            <p:ph idx="1" type="body"/>
          </p:nvPr>
        </p:nvSpPr>
        <p:spPr>
          <a:xfrm>
            <a:off x="457200" y="1600200"/>
            <a:ext cx="17830800" cy="801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g1a8714e965ea157c_5"/>
          <p:cNvPicPr preferRelativeResize="0"/>
          <p:nvPr/>
        </p:nvPicPr>
        <p:blipFill rotWithShape="1">
          <a:blip r:embed="rId3">
            <a:alphaModFix/>
          </a:blip>
          <a:srcRect b="0" l="0" r="0" t="59028"/>
          <a:stretch/>
        </p:blipFill>
        <p:spPr>
          <a:xfrm>
            <a:off x="3254465" y="2075838"/>
            <a:ext cx="11521969" cy="70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a8714e965ea157c_0"/>
          <p:cNvSpPr txBox="1"/>
          <p:nvPr>
            <p:ph type="ctrTitle"/>
          </p:nvPr>
        </p:nvSpPr>
        <p:spPr>
          <a:xfrm>
            <a:off x="1426350" y="2148750"/>
            <a:ext cx="15435300" cy="598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/>
              <a:t>TERRA For </a:t>
            </a:r>
            <a:r>
              <a:rPr b="1" lang="en-US" sz="6000"/>
              <a:t>Aquaculture and water body monitor </a:t>
            </a:r>
            <a:endParaRPr b="1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