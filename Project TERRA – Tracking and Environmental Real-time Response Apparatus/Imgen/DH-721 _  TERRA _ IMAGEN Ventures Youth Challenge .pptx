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Roboto Thin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Arimo"/>
      <p:regular r:id="rId32"/>
      <p:bold r:id="rId33"/>
      <p:italic r:id="rId34"/>
      <p:boldItalic r:id="rId35"/>
    </p:embeddedFont>
    <p:embeddedFont>
      <p:font typeface="Arsenal"/>
      <p:regular r:id="rId36"/>
      <p:bold r:id="rId37"/>
      <p:italic r:id="rId38"/>
      <p:boldItalic r:id="rId39"/>
    </p:embeddedFont>
    <p:embeddedFont>
      <p:font typeface="Fira Code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h5y/9Rzb3bwYtvrC7cw/5xKlmY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Code-regular.fntdata"/><Relationship Id="rId20" Type="http://schemas.openxmlformats.org/officeDocument/2006/relationships/font" Target="fonts/RobotoThin-regular.fntdata"/><Relationship Id="rId42" Type="http://customschemas.google.com/relationships/presentationmetadata" Target="metadata"/><Relationship Id="rId41" Type="http://schemas.openxmlformats.org/officeDocument/2006/relationships/font" Target="fonts/FiraCode-bold.fntdata"/><Relationship Id="rId22" Type="http://schemas.openxmlformats.org/officeDocument/2006/relationships/font" Target="fonts/RobotoThin-italic.fntdata"/><Relationship Id="rId21" Type="http://schemas.openxmlformats.org/officeDocument/2006/relationships/font" Target="fonts/RobotoThin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Thin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Arimo-bold.fntdata"/><Relationship Id="rId10" Type="http://schemas.openxmlformats.org/officeDocument/2006/relationships/slide" Target="slides/slide5.xml"/><Relationship Id="rId32" Type="http://schemas.openxmlformats.org/officeDocument/2006/relationships/font" Target="fonts/Arimo-regular.fntdata"/><Relationship Id="rId13" Type="http://schemas.openxmlformats.org/officeDocument/2006/relationships/slide" Target="slides/slide8.xml"/><Relationship Id="rId35" Type="http://schemas.openxmlformats.org/officeDocument/2006/relationships/font" Target="fonts/Arimo-boldItalic.fntdata"/><Relationship Id="rId12" Type="http://schemas.openxmlformats.org/officeDocument/2006/relationships/slide" Target="slides/slide7.xml"/><Relationship Id="rId34" Type="http://schemas.openxmlformats.org/officeDocument/2006/relationships/font" Target="fonts/Arimo-italic.fntdata"/><Relationship Id="rId15" Type="http://schemas.openxmlformats.org/officeDocument/2006/relationships/slide" Target="slides/slide10.xml"/><Relationship Id="rId37" Type="http://schemas.openxmlformats.org/officeDocument/2006/relationships/font" Target="fonts/Arsenal-bold.fntdata"/><Relationship Id="rId14" Type="http://schemas.openxmlformats.org/officeDocument/2006/relationships/slide" Target="slides/slide9.xml"/><Relationship Id="rId36" Type="http://schemas.openxmlformats.org/officeDocument/2006/relationships/font" Target="fonts/Arsenal-regular.fntdata"/><Relationship Id="rId17" Type="http://schemas.openxmlformats.org/officeDocument/2006/relationships/slide" Target="slides/slide12.xml"/><Relationship Id="rId39" Type="http://schemas.openxmlformats.org/officeDocument/2006/relationships/font" Target="fonts/Arsenal-boldItalic.fntdata"/><Relationship Id="rId16" Type="http://schemas.openxmlformats.org/officeDocument/2006/relationships/slide" Target="slides/slide11.xml"/><Relationship Id="rId38" Type="http://schemas.openxmlformats.org/officeDocument/2006/relationships/font" Target="fonts/Arsenal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efeb18e6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2efeb18e6b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38584c3e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038584c3ec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efeb18e6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2efeb18e6b_0_4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b9dd42a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2b9dd42a8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eee3178cd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32eee3178cd_0_4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2efeb18e6b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g32efeb18e6b_0_4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110f31e0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110f31e0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eee3178cd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g32eee3178cd_0_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jp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35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Relationship Id="rId4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jpg"/><Relationship Id="rId4" Type="http://schemas.openxmlformats.org/officeDocument/2006/relationships/image" Target="../media/image19.jpg"/><Relationship Id="rId11" Type="http://schemas.openxmlformats.org/officeDocument/2006/relationships/image" Target="../media/image46.png"/><Relationship Id="rId10" Type="http://schemas.openxmlformats.org/officeDocument/2006/relationships/image" Target="../media/image31.png"/><Relationship Id="rId9" Type="http://schemas.openxmlformats.org/officeDocument/2006/relationships/image" Target="../media/image45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image" Target="../media/image14.png"/><Relationship Id="rId5" Type="http://schemas.openxmlformats.org/officeDocument/2006/relationships/image" Target="../media/image47.png"/><Relationship Id="rId6" Type="http://schemas.openxmlformats.org/officeDocument/2006/relationships/image" Target="../media/image43.png"/><Relationship Id="rId7" Type="http://schemas.openxmlformats.org/officeDocument/2006/relationships/image" Target="../media/image49.png"/><Relationship Id="rId8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11334" l="0" r="0" t="32411"/>
          <a:stretch/>
        </p:blipFill>
        <p:spPr>
          <a:xfrm>
            <a:off x="-38112" y="0"/>
            <a:ext cx="18326126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"/>
          <p:cNvGrpSpPr/>
          <p:nvPr/>
        </p:nvGrpSpPr>
        <p:grpSpPr>
          <a:xfrm>
            <a:off x="1227601" y="507437"/>
            <a:ext cx="2136730" cy="2507866"/>
            <a:chOff x="0" y="0"/>
            <a:chExt cx="8075323" cy="7641274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8075323" cy="7641274"/>
            </a:xfrm>
            <a:custGeom>
              <a:rect b="b" l="l" r="r" t="t"/>
              <a:pathLst>
                <a:path extrusionOk="0" h="7641274" w="8075323">
                  <a:moveTo>
                    <a:pt x="0" y="0"/>
                  </a:moveTo>
                  <a:lnTo>
                    <a:pt x="8075323" y="0"/>
                  </a:lnTo>
                  <a:lnTo>
                    <a:pt x="8075323" y="7641274"/>
                  </a:lnTo>
                  <a:lnTo>
                    <a:pt x="0" y="764127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1723348" y="3097310"/>
              <a:ext cx="5126266" cy="3737514"/>
            </a:xfrm>
            <a:custGeom>
              <a:rect b="b" l="l" r="r" t="t"/>
              <a:pathLst>
                <a:path extrusionOk="0" h="3737514" w="5126266">
                  <a:moveTo>
                    <a:pt x="0" y="0"/>
                  </a:moveTo>
                  <a:lnTo>
                    <a:pt x="5126265" y="0"/>
                  </a:lnTo>
                  <a:lnTo>
                    <a:pt x="5126265" y="3737514"/>
                  </a:lnTo>
                  <a:lnTo>
                    <a:pt x="0" y="37375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8" name="Google Shape;88;p1"/>
          <p:cNvSpPr txBox="1"/>
          <p:nvPr/>
        </p:nvSpPr>
        <p:spPr>
          <a:xfrm>
            <a:off x="4087038" y="607775"/>
            <a:ext cx="100758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5"/>
              <a:buFont typeface="Arial"/>
              <a:buNone/>
            </a:pPr>
            <a:r>
              <a:rPr b="1" i="0" lang="en-US" sz="12875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TERRA</a:t>
            </a:r>
            <a:endParaRPr b="1" i="0" sz="12875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None/>
            </a:pPr>
            <a:r>
              <a:rPr b="1" i="0" lang="en-US" sz="26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Tracking and Environmental Real-time Response Apparatus</a:t>
            </a:r>
            <a:endParaRPr b="0" i="0" sz="16375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453074" y="9391650"/>
            <a:ext cx="347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7259300" y="9210675"/>
            <a:ext cx="1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396300" y="5978301"/>
            <a:ext cx="55380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S.M. Emon Rashid 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Engineering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Avionics Technology </a:t>
            </a:r>
            <a:b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 Aeronautical Institute of Bangladesh 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410100" y="4188013"/>
            <a:ext cx="46425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Mahdi Sajjad Neloy 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Engineering Lead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chemeClr val="lt1"/>
                </a:solidFill>
              </a:rPr>
              <a:t>Computer Engineer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035625" y="4188025"/>
            <a:ext cx="5021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Samsun Naher Maisha 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Research Lead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r>
              <a:rPr lang="en-US" sz="1900">
                <a:solidFill>
                  <a:schemeClr val="lt1"/>
                </a:solidFill>
              </a:rPr>
              <a:t>Oceanography</a:t>
            </a: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at </a:t>
            </a:r>
            <a:b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chemeClr val="lt1"/>
                </a:solidFill>
              </a:rPr>
              <a:t>Noakhali Science &amp; Technology University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035625" y="6057263"/>
            <a:ext cx="5021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Tasmia Akhter 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Research Assistant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r>
              <a:rPr lang="en-US" sz="1900">
                <a:solidFill>
                  <a:schemeClr val="lt1"/>
                </a:solidFill>
              </a:rPr>
              <a:t>Mathematics</a:t>
            </a: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at </a:t>
            </a:r>
            <a:b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chemeClr val="lt1"/>
                </a:solidFill>
              </a:rPr>
              <a:t>Noakhali Science &amp; Technology University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496600" y="7768563"/>
            <a:ext cx="5021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Faisal Hossain 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Embedded Engineer 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chemeClr val="lt1"/>
                </a:solidFill>
              </a:rPr>
              <a:t>Electrical Engineer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053625" y="3431700"/>
            <a:ext cx="887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Research and Execution Team </a:t>
            </a:r>
            <a:endParaRPr b="1" sz="320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4035625" y="7800650"/>
            <a:ext cx="50214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2100">
                <a:solidFill>
                  <a:schemeClr val="lt1"/>
                </a:solidFill>
              </a:rPr>
              <a:t>Ashfaqur Rahman Chowdhury  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SDG Planning Coordinator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r>
              <a:rPr lang="en-US" sz="1900">
                <a:solidFill>
                  <a:schemeClr val="lt1"/>
                </a:solidFill>
              </a:rPr>
              <a:t>Architecture</a:t>
            </a: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at </a:t>
            </a:r>
            <a:b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900">
                <a:solidFill>
                  <a:schemeClr val="lt1"/>
                </a:solidFill>
              </a:rPr>
              <a:t>Shahjalal University Of Science &amp; Technology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pic>
          <p:nvPicPr>
            <p:cNvPr id="103" name="Google Shape;103;p2"/>
            <p:cNvPicPr preferRelativeResize="0"/>
            <p:nvPr/>
          </p:nvPicPr>
          <p:blipFill rotWithShape="1">
            <a:blip r:embed="rId3">
              <a:alphaModFix/>
            </a:blip>
            <a:srcRect b="10512" l="0" r="0" t="31180"/>
            <a:stretch/>
          </p:blipFill>
          <p:spPr>
            <a:xfrm>
              <a:off x="0" y="0"/>
              <a:ext cx="18288000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2"/>
            <p:cNvSpPr txBox="1"/>
            <p:nvPr/>
          </p:nvSpPr>
          <p:spPr>
            <a:xfrm>
              <a:off x="1028700" y="9467850"/>
              <a:ext cx="2253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5708199" y="9515475"/>
              <a:ext cx="1551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971950" y="1075725"/>
              <a:ext cx="9348000" cy="27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7" name="Google Shape;10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809489" y="1169175"/>
              <a:ext cx="4947461" cy="72081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2"/>
            <p:cNvSpPr txBox="1"/>
            <p:nvPr/>
          </p:nvSpPr>
          <p:spPr>
            <a:xfrm>
              <a:off x="11739200" y="8509124"/>
              <a:ext cx="5103300" cy="4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Emergency appeal №: MDRBD036 | </a:t>
              </a:r>
              <a:r>
                <a:rPr b="0" i="0" lang="en-US" sz="17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International Federation of Red Cross</a:t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1116900" y="1085600"/>
              <a:ext cx="5442300" cy="10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99"/>
                <a:buFont typeface="Arial"/>
                <a:buNone/>
              </a:pPr>
              <a:r>
                <a:rPr b="1" i="0" lang="en-US" sz="6900" u="none" cap="none" strike="noStrike">
                  <a:solidFill>
                    <a:srgbClr val="FEFEFE"/>
                  </a:solidFill>
                  <a:latin typeface="Arial"/>
                  <a:ea typeface="Arial"/>
                  <a:cs typeface="Arial"/>
                  <a:sym typeface="Arial"/>
                </a:rPr>
                <a:t>PROBLEM </a:t>
              </a:r>
              <a:endPara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087350" y="2170875"/>
              <a:ext cx="8902200" cy="13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lack of </a:t>
              </a: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Real-Time Data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for </a:t>
              </a: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Early Flood Detection System</a:t>
              </a:r>
              <a:r>
                <a:rPr b="0" i="0" lang="en-US" sz="2100" u="sng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that leads to </a:t>
              </a: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infrastructural damage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hampers </a:t>
              </a: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agriculture production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and increases the risk of damage to </a:t>
              </a:r>
              <a:r>
                <a:rPr b="1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human lives</a:t>
              </a:r>
              <a:r>
                <a:rPr b="0" i="0" lang="en-U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1" name="Google Shape;11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2112" y="2850250"/>
              <a:ext cx="8127275" cy="7208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2efeb18e6b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0"/>
            <a:ext cx="10286999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2efeb18e6b_0_29"/>
          <p:cNvSpPr/>
          <p:nvPr/>
        </p:nvSpPr>
        <p:spPr>
          <a:xfrm>
            <a:off x="-3848099" y="-2661823"/>
            <a:ext cx="16230600" cy="7628382"/>
          </a:xfrm>
          <a:custGeom>
            <a:rect b="b" l="l" r="r" t="t"/>
            <a:pathLst>
              <a:path extrusionOk="0" h="7628382" w="16230600">
                <a:moveTo>
                  <a:pt x="0" y="0"/>
                </a:moveTo>
                <a:lnTo>
                  <a:pt x="16230600" y="0"/>
                </a:lnTo>
                <a:lnTo>
                  <a:pt x="16230600" y="7628382"/>
                </a:lnTo>
                <a:lnTo>
                  <a:pt x="0" y="7628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g32efeb18e6b_0_29"/>
          <p:cNvSpPr txBox="1"/>
          <p:nvPr/>
        </p:nvSpPr>
        <p:spPr>
          <a:xfrm>
            <a:off x="1104675" y="701350"/>
            <a:ext cx="10882500" cy="2727600"/>
          </a:xfrm>
          <a:prstGeom prst="rect">
            <a:avLst/>
          </a:prstGeom>
          <a:solidFill>
            <a:srgbClr val="32909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SOLUTION : TERRA</a:t>
            </a:r>
            <a:endParaRPr b="1" i="0" sz="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1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99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Tracking and Environmental Real-time Response Apparatus - </a:t>
            </a: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Flood Warning System 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2efeb18e6b_0_29"/>
          <p:cNvSpPr txBox="1"/>
          <p:nvPr/>
        </p:nvSpPr>
        <p:spPr>
          <a:xfrm>
            <a:off x="1028475" y="9291502"/>
            <a:ext cx="231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2efeb18e6b_0_29"/>
          <p:cNvSpPr txBox="1"/>
          <p:nvPr/>
        </p:nvSpPr>
        <p:spPr>
          <a:xfrm>
            <a:off x="16091416" y="9515475"/>
            <a:ext cx="116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2efeb18e6b_0_29"/>
          <p:cNvSpPr txBox="1"/>
          <p:nvPr/>
        </p:nvSpPr>
        <p:spPr>
          <a:xfrm>
            <a:off x="17259300" y="9210675"/>
            <a:ext cx="15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g32efeb18e6b_0_29"/>
          <p:cNvGrpSpPr/>
          <p:nvPr/>
        </p:nvGrpSpPr>
        <p:grpSpPr>
          <a:xfrm>
            <a:off x="1146514" y="7172145"/>
            <a:ext cx="11682397" cy="1174518"/>
            <a:chOff x="1593000" y="2322568"/>
            <a:chExt cx="5957975" cy="643500"/>
          </a:xfrm>
        </p:grpSpPr>
        <p:sp>
          <p:nvSpPr>
            <p:cNvPr id="123" name="Google Shape;123;g32efeb18e6b_0_2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2efeb18e6b_0_2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2efeb18e6b_0_2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2efeb18e6b_0_2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Early Warning System APP </a:t>
              </a:r>
              <a:endParaRPr b="0" i="0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g32efeb18e6b_0_2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6470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2efeb18e6b_0_2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t/>
              </a:r>
              <a:endParaRPr b="0" i="0" sz="52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29" name="Google Shape;129;g32efeb18e6b_0_29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457200" marR="0" rtl="0" algn="ctr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Provides real-time data for informed decision-making and reducing Damage.</a:t>
              </a:r>
              <a:endParaRPr b="0" i="0" sz="16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g32efeb18e6b_0_29"/>
          <p:cNvGrpSpPr/>
          <p:nvPr/>
        </p:nvGrpSpPr>
        <p:grpSpPr>
          <a:xfrm>
            <a:off x="1146514" y="5701359"/>
            <a:ext cx="11682464" cy="1174518"/>
            <a:chOff x="1593000" y="2322568"/>
            <a:chExt cx="5958009" cy="643500"/>
          </a:xfrm>
        </p:grpSpPr>
        <p:sp>
          <p:nvSpPr>
            <p:cNvPr id="131" name="Google Shape;131;g32efeb18e6b_0_2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32efeb18e6b_0_2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2efeb18e6b_0_2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2efeb18e6b_0_2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Automated and Reliable </a:t>
              </a:r>
              <a:endParaRPr b="0" i="0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" name="Google Shape;135;g32efeb18e6b_0_2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6470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32efeb18e6b_0_2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t/>
              </a:r>
              <a:endParaRPr b="0" i="0" sz="52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37" name="Google Shape;137;g32efeb18e6b_0_29"/>
            <p:cNvSpPr/>
            <p:nvPr/>
          </p:nvSpPr>
          <p:spPr>
            <a:xfrm>
              <a:off x="4495209" y="2323745"/>
              <a:ext cx="30558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-3365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●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Automated Flood Data and Calculative Prediction </a:t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65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●"/>
              </a:pPr>
              <a:r>
                <a:rPr b="0" i="0" lang="en-US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Multiple connectivity  (Wi-Fi,GSM and LoRa WAN) </a:t>
              </a:r>
              <a:endParaRPr b="0" i="0" sz="14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" name="Google Shape;138;g32efeb18e6b_0_29"/>
          <p:cNvGrpSpPr/>
          <p:nvPr/>
        </p:nvGrpSpPr>
        <p:grpSpPr>
          <a:xfrm>
            <a:off x="1146514" y="4204502"/>
            <a:ext cx="11682397" cy="1174518"/>
            <a:chOff x="1593000" y="2322568"/>
            <a:chExt cx="5957975" cy="643500"/>
          </a:xfrm>
        </p:grpSpPr>
        <p:sp>
          <p:nvSpPr>
            <p:cNvPr id="139" name="Google Shape;139;g32efeb18e6b_0_2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2efeb18e6b_0_2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2efeb18e6b_0_2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2efeb18e6b_0_2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Real time Data </a:t>
              </a:r>
              <a:endParaRPr b="0" i="0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g32efeb18e6b_0_2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6470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2efeb18e6b_0_2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t/>
              </a:r>
              <a:endParaRPr b="0" i="0" sz="52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45" name="Google Shape;145;g32efeb18e6b_0_29"/>
            <p:cNvSpPr/>
            <p:nvPr/>
          </p:nvSpPr>
          <p:spPr>
            <a:xfrm>
              <a:off x="4387845" y="2323749"/>
              <a:ext cx="15687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-615950" lvl="0" marL="91440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1B786F"/>
                </a:buClr>
                <a:buSzPts val="2500"/>
                <a:buFont typeface="Roboto"/>
                <a:buChar char="●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Water levels,   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15950" lvl="0" marL="914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786F"/>
                </a:buClr>
                <a:buSzPts val="2500"/>
                <a:buFont typeface="Roboto"/>
                <a:buChar char="●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Humidity</a:t>
              </a:r>
              <a:endParaRPr b="0" i="0" sz="2500" u="none" cap="none" strike="noStrike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6" name="Google Shape;146;g32efeb18e6b_0_29"/>
          <p:cNvSpPr/>
          <p:nvPr/>
        </p:nvSpPr>
        <p:spPr>
          <a:xfrm>
            <a:off x="1432625" y="5874348"/>
            <a:ext cx="889837" cy="828547"/>
          </a:xfrm>
          <a:custGeom>
            <a:rect b="b" l="l" r="r" t="t"/>
            <a:pathLst>
              <a:path extrusionOk="0" h="907997" w="907997">
                <a:moveTo>
                  <a:pt x="0" y="0"/>
                </a:moveTo>
                <a:lnTo>
                  <a:pt x="907996" y="0"/>
                </a:lnTo>
                <a:lnTo>
                  <a:pt x="907996" y="907997"/>
                </a:lnTo>
                <a:lnTo>
                  <a:pt x="0" y="90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g32efeb18e6b_0_29"/>
          <p:cNvSpPr/>
          <p:nvPr/>
        </p:nvSpPr>
        <p:spPr>
          <a:xfrm>
            <a:off x="1439864" y="4378594"/>
            <a:ext cx="875377" cy="828547"/>
          </a:xfrm>
          <a:custGeom>
            <a:rect b="b" l="l" r="r" t="t"/>
            <a:pathLst>
              <a:path extrusionOk="0" h="907997" w="893242">
                <a:moveTo>
                  <a:pt x="0" y="0"/>
                </a:moveTo>
                <a:lnTo>
                  <a:pt x="893242" y="0"/>
                </a:lnTo>
                <a:lnTo>
                  <a:pt x="893242" y="907997"/>
                </a:lnTo>
                <a:lnTo>
                  <a:pt x="0" y="90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g32efeb18e6b_0_29"/>
          <p:cNvSpPr/>
          <p:nvPr/>
        </p:nvSpPr>
        <p:spPr>
          <a:xfrm>
            <a:off x="1451535" y="7345146"/>
            <a:ext cx="852019" cy="828547"/>
          </a:xfrm>
          <a:custGeom>
            <a:rect b="b" l="l" r="r" t="t"/>
            <a:pathLst>
              <a:path extrusionOk="0" h="907997" w="869407">
                <a:moveTo>
                  <a:pt x="0" y="0"/>
                </a:moveTo>
                <a:lnTo>
                  <a:pt x="869407" y="0"/>
                </a:lnTo>
                <a:lnTo>
                  <a:pt x="869407" y="907997"/>
                </a:lnTo>
                <a:lnTo>
                  <a:pt x="0" y="907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g32efeb18e6b_0_29"/>
          <p:cNvSpPr/>
          <p:nvPr/>
        </p:nvSpPr>
        <p:spPr>
          <a:xfrm>
            <a:off x="9707150" y="4168650"/>
            <a:ext cx="28380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-61595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B786F"/>
              </a:buClr>
              <a:buSzPts val="2500"/>
              <a:buFont typeface="Roboto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15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786F"/>
              </a:buClr>
              <a:buSzPts val="2500"/>
              <a:buFont typeface="Roboto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quality</a:t>
            </a:r>
            <a:endParaRPr b="0" i="0" sz="2500" u="none" cap="none" strike="noStrike">
              <a:solidFill>
                <a:srgbClr val="1B786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2efeb18e6b_0_29"/>
          <p:cNvSpPr txBox="1"/>
          <p:nvPr/>
        </p:nvSpPr>
        <p:spPr>
          <a:xfrm>
            <a:off x="1126125" y="9328750"/>
            <a:ext cx="16133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7"/>
              <a:buFont typeface="Arial"/>
              <a:buNone/>
            </a:pPr>
            <a:r>
              <a:rPr b="0" i="0" lang="en-US" sz="3377" u="none" cap="none" strike="noStrike">
                <a:solidFill>
                  <a:schemeClr val="lt1"/>
                </a:solidFill>
                <a:highlight>
                  <a:srgbClr val="1B786F"/>
                </a:highlight>
                <a:latin typeface="Fira Code"/>
                <a:ea typeface="Fira Code"/>
                <a:cs typeface="Fira Code"/>
                <a:sym typeface="Fira Code"/>
              </a:rPr>
              <a:t> Revolutionizing Disaster Management Through Real-Time Data .  </a:t>
            </a:r>
            <a:endParaRPr b="0" i="0" sz="300" u="none" cap="none" strike="noStrike">
              <a:solidFill>
                <a:schemeClr val="lt1"/>
              </a:solidFill>
              <a:highlight>
                <a:srgbClr val="1B786F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38584c3ec_1_15"/>
          <p:cNvSpPr/>
          <p:nvPr/>
        </p:nvSpPr>
        <p:spPr>
          <a:xfrm>
            <a:off x="0" y="2250500"/>
            <a:ext cx="18282615" cy="8034921"/>
          </a:xfrm>
          <a:custGeom>
            <a:rect b="b" l="l" r="r" t="t"/>
            <a:pathLst>
              <a:path extrusionOk="0" h="1588714" w="4995250">
                <a:moveTo>
                  <a:pt x="0" y="0"/>
                </a:moveTo>
                <a:lnTo>
                  <a:pt x="4995250" y="0"/>
                </a:lnTo>
                <a:lnTo>
                  <a:pt x="4995250" y="1588714"/>
                </a:lnTo>
                <a:lnTo>
                  <a:pt x="0" y="1588714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sp>
        <p:nvSpPr>
          <p:cNvPr id="156" name="Google Shape;156;g3038584c3ec_1_15"/>
          <p:cNvSpPr/>
          <p:nvPr/>
        </p:nvSpPr>
        <p:spPr>
          <a:xfrm>
            <a:off x="618750" y="3616679"/>
            <a:ext cx="2807100" cy="95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Real time Flood </a:t>
            </a:r>
            <a:br>
              <a:rPr b="1" i="0" lang="en-US" sz="19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9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Prediction Model  </a:t>
            </a:r>
            <a:endParaRPr b="1" i="0" sz="19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038584c3ec_1_15"/>
          <p:cNvSpPr/>
          <p:nvPr/>
        </p:nvSpPr>
        <p:spPr>
          <a:xfrm>
            <a:off x="3372809" y="3862786"/>
            <a:ext cx="325800" cy="372000"/>
          </a:xfrm>
          <a:prstGeom prst="rightArrow">
            <a:avLst>
              <a:gd fmla="val 34239" name="adj1"/>
              <a:gd fmla="val 57035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038584c3ec_1_15"/>
          <p:cNvSpPr txBox="1"/>
          <p:nvPr/>
        </p:nvSpPr>
        <p:spPr>
          <a:xfrm>
            <a:off x="4029866" y="3280075"/>
            <a:ext cx="4960800" cy="16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Instead of the Statistical water mapping data , we are bringing a calculative Situational prediction system specially Flood. 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038584c3ec_1_15"/>
          <p:cNvSpPr/>
          <p:nvPr/>
        </p:nvSpPr>
        <p:spPr>
          <a:xfrm>
            <a:off x="651646" y="5646385"/>
            <a:ext cx="2807100" cy="95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IoT  &amp; Modularity</a:t>
            </a:r>
            <a:endParaRPr b="1" i="0" sz="19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g3038584c3ec_1_15"/>
          <p:cNvSpPr/>
          <p:nvPr/>
        </p:nvSpPr>
        <p:spPr>
          <a:xfrm>
            <a:off x="3405703" y="5974589"/>
            <a:ext cx="325800" cy="372000"/>
          </a:xfrm>
          <a:prstGeom prst="rightArrow">
            <a:avLst>
              <a:gd fmla="val 34239" name="adj1"/>
              <a:gd fmla="val 57035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038584c3ec_1_15"/>
          <p:cNvSpPr txBox="1"/>
          <p:nvPr/>
        </p:nvSpPr>
        <p:spPr>
          <a:xfrm>
            <a:off x="3994671" y="5348409"/>
            <a:ext cx="4960800" cy="16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the Data Collection TERRA modules are interconnected . It has Modular Design Structure that Enables expandability .</a:t>
            </a:r>
            <a:r>
              <a:rPr b="0" i="0" lang="en-US" sz="16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Uninterrupted Data Transmission Via WiFi , GSM &amp; LoRa WAN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038584c3ec_1_15"/>
          <p:cNvSpPr/>
          <p:nvPr/>
        </p:nvSpPr>
        <p:spPr>
          <a:xfrm>
            <a:off x="671116" y="7548519"/>
            <a:ext cx="2807100" cy="93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Analysis &amp;</a:t>
            </a:r>
            <a:br>
              <a:rPr b="1" i="0" lang="en-US" sz="19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19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Near Computing </a:t>
            </a:r>
            <a:endParaRPr b="1" i="0" sz="19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3038584c3ec_1_15"/>
          <p:cNvSpPr txBox="1"/>
          <p:nvPr/>
        </p:nvSpPr>
        <p:spPr>
          <a:xfrm>
            <a:off x="3994671" y="7281356"/>
            <a:ext cx="4960800" cy="16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TERRA modules Collects critical Flood data and transmits directly to the Central server for Data analysis and Live Data Demonstration. 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038584c3ec_1_15"/>
          <p:cNvSpPr/>
          <p:nvPr/>
        </p:nvSpPr>
        <p:spPr>
          <a:xfrm>
            <a:off x="3478085" y="7827611"/>
            <a:ext cx="325800" cy="372000"/>
          </a:xfrm>
          <a:prstGeom prst="rightArrow">
            <a:avLst>
              <a:gd fmla="val 34239" name="adj1"/>
              <a:gd fmla="val 57035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038584c3ec_1_15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7" y="7"/>
            <a:ext cx="4839310" cy="2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038584c3ec_1_15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4902324" y="0"/>
            <a:ext cx="4839325" cy="22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038584c3ec_1_15"/>
          <p:cNvSpPr txBox="1"/>
          <p:nvPr/>
        </p:nvSpPr>
        <p:spPr>
          <a:xfrm>
            <a:off x="1154177" y="742950"/>
            <a:ext cx="15115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TECHNOLOGY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038584c3ec_1_15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9747932" y="135782"/>
            <a:ext cx="4839310" cy="2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038584c3ec_1_15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13516361" y="211975"/>
            <a:ext cx="4839325" cy="2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038584c3ec_1_15"/>
          <p:cNvPicPr preferRelativeResize="0"/>
          <p:nvPr/>
        </p:nvPicPr>
        <p:blipFill rotWithShape="1">
          <a:blip r:embed="rId4">
            <a:alphaModFix/>
          </a:blip>
          <a:srcRect b="27520" l="0" r="0" t="0"/>
          <a:stretch/>
        </p:blipFill>
        <p:spPr>
          <a:xfrm>
            <a:off x="14273675" y="3049305"/>
            <a:ext cx="3324701" cy="569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038584c3ec_1_15"/>
          <p:cNvSpPr txBox="1"/>
          <p:nvPr/>
        </p:nvSpPr>
        <p:spPr>
          <a:xfrm>
            <a:off x="14349876" y="8856692"/>
            <a:ext cx="566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 Mobile App Prototype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038584c3ec_1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6998" y="3083273"/>
            <a:ext cx="3450766" cy="22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038584c3ec_1_15"/>
          <p:cNvSpPr txBox="1"/>
          <p:nvPr/>
        </p:nvSpPr>
        <p:spPr>
          <a:xfrm>
            <a:off x="9740801" y="5283942"/>
            <a:ext cx="566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River water Measurement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efeb18e6b_0_427"/>
          <p:cNvSpPr txBox="1"/>
          <p:nvPr/>
        </p:nvSpPr>
        <p:spPr>
          <a:xfrm>
            <a:off x="925576" y="742950"/>
            <a:ext cx="77280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INNOVATION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2efeb18e6b_0_427"/>
          <p:cNvPicPr preferRelativeResize="0"/>
          <p:nvPr/>
        </p:nvPicPr>
        <p:blipFill rotWithShape="1">
          <a:blip r:embed="rId3">
            <a:alphaModFix/>
          </a:blip>
          <a:srcRect b="3473" l="5209" r="1077" t="0"/>
          <a:stretch/>
        </p:blipFill>
        <p:spPr>
          <a:xfrm>
            <a:off x="10194525" y="1973925"/>
            <a:ext cx="7308399" cy="35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2efeb18e6b_0_427"/>
          <p:cNvSpPr txBox="1"/>
          <p:nvPr/>
        </p:nvSpPr>
        <p:spPr>
          <a:xfrm>
            <a:off x="12131964" y="5585732"/>
            <a:ext cx="517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TERRA Web Portal Prototype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2efeb18e6b_0_427"/>
          <p:cNvSpPr/>
          <p:nvPr/>
        </p:nvSpPr>
        <p:spPr>
          <a:xfrm flipH="1">
            <a:off x="2353575" y="7701558"/>
            <a:ext cx="3688800" cy="10479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feb18e6b_0_427"/>
          <p:cNvSpPr/>
          <p:nvPr/>
        </p:nvSpPr>
        <p:spPr>
          <a:xfrm rot="-5400000">
            <a:off x="8340050" y="3376375"/>
            <a:ext cx="1049175" cy="9699525"/>
          </a:xfrm>
          <a:prstGeom prst="flowChartOffpageConnector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feb18e6b_0_427"/>
          <p:cNvSpPr/>
          <p:nvPr/>
        </p:nvSpPr>
        <p:spPr>
          <a:xfrm>
            <a:off x="2320375" y="7827750"/>
            <a:ext cx="95970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Modular Design Enables options to add more sensors : Rain, Water Salinity ,Soil Quality , PH etc. </a:t>
            </a:r>
            <a:endParaRPr b="0" i="0" sz="17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4" name="Google Shape;184;g32efeb18e6b_0_427"/>
          <p:cNvSpPr/>
          <p:nvPr/>
        </p:nvSpPr>
        <p:spPr>
          <a:xfrm>
            <a:off x="973525" y="7701546"/>
            <a:ext cx="1380000" cy="1047600"/>
          </a:xfrm>
          <a:prstGeom prst="rect">
            <a:avLst/>
          </a:prstGeom>
          <a:solidFill>
            <a:srgbClr val="414141"/>
          </a:solidFill>
          <a:ln>
            <a:noFill/>
          </a:ln>
          <a:effectLst>
            <a:outerShdw blurRad="71438" rotWithShape="0" algn="bl" dir="2700000" dist="28575">
              <a:srgbClr val="000000">
                <a:alpha val="16862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2efeb18e6b_0_427"/>
          <p:cNvSpPr/>
          <p:nvPr/>
        </p:nvSpPr>
        <p:spPr>
          <a:xfrm>
            <a:off x="973525" y="7701558"/>
            <a:ext cx="1380000" cy="10479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05</a:t>
            </a:r>
            <a:endParaRPr b="0" i="0" sz="4300" u="none" cap="none" strike="noStrike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186" name="Google Shape;186;g32efeb18e6b_0_427"/>
          <p:cNvSpPr/>
          <p:nvPr/>
        </p:nvSpPr>
        <p:spPr>
          <a:xfrm flipH="1">
            <a:off x="2353575" y="6328773"/>
            <a:ext cx="3688800" cy="10479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2efeb18e6b_0_427"/>
          <p:cNvSpPr/>
          <p:nvPr/>
        </p:nvSpPr>
        <p:spPr>
          <a:xfrm rot="-5400000">
            <a:off x="6327823" y="4015800"/>
            <a:ext cx="1049200" cy="5675100"/>
          </a:xfrm>
          <a:prstGeom prst="flowChartOffpageConnector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2efeb18e6b_0_427"/>
          <p:cNvSpPr/>
          <p:nvPr/>
        </p:nvSpPr>
        <p:spPr>
          <a:xfrm>
            <a:off x="2320375" y="6454950"/>
            <a:ext cx="88623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Live Data Based - Real Time Prediction Model </a:t>
            </a:r>
            <a:endParaRPr b="0" i="0" sz="17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9" name="Google Shape;189;g32efeb18e6b_0_427"/>
          <p:cNvSpPr/>
          <p:nvPr/>
        </p:nvSpPr>
        <p:spPr>
          <a:xfrm>
            <a:off x="973525" y="6328761"/>
            <a:ext cx="1380000" cy="1047600"/>
          </a:xfrm>
          <a:prstGeom prst="rect">
            <a:avLst/>
          </a:prstGeom>
          <a:solidFill>
            <a:srgbClr val="414141"/>
          </a:solidFill>
          <a:ln>
            <a:noFill/>
          </a:ln>
          <a:effectLst>
            <a:outerShdw blurRad="71438" rotWithShape="0" algn="bl" dir="2700000" dist="28575">
              <a:srgbClr val="000000">
                <a:alpha val="16862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2efeb18e6b_0_427"/>
          <p:cNvSpPr/>
          <p:nvPr/>
        </p:nvSpPr>
        <p:spPr>
          <a:xfrm>
            <a:off x="973525" y="6328773"/>
            <a:ext cx="1380000" cy="10479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04</a:t>
            </a:r>
            <a:endParaRPr b="0" i="0" sz="4300" u="none" cap="none" strike="noStrike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191" name="Google Shape;191;g32efeb18e6b_0_427"/>
          <p:cNvSpPr/>
          <p:nvPr/>
        </p:nvSpPr>
        <p:spPr>
          <a:xfrm flipH="1">
            <a:off x="2353575" y="4955945"/>
            <a:ext cx="3688800" cy="10479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feb18e6b_0_427"/>
          <p:cNvSpPr/>
          <p:nvPr/>
        </p:nvSpPr>
        <p:spPr>
          <a:xfrm rot="-5400000">
            <a:off x="6367962" y="2602838"/>
            <a:ext cx="1049200" cy="5755375"/>
          </a:xfrm>
          <a:prstGeom prst="flowChartOffpageConnector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feb18e6b_0_427"/>
          <p:cNvSpPr/>
          <p:nvPr/>
        </p:nvSpPr>
        <p:spPr>
          <a:xfrm>
            <a:off x="2320375" y="5082125"/>
            <a:ext cx="6858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Illustration of Live weather Demographics  </a:t>
            </a:r>
            <a:endParaRPr b="0" i="0" sz="17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g32efeb18e6b_0_427"/>
          <p:cNvSpPr/>
          <p:nvPr/>
        </p:nvSpPr>
        <p:spPr>
          <a:xfrm>
            <a:off x="973525" y="4955933"/>
            <a:ext cx="1380000" cy="1047600"/>
          </a:xfrm>
          <a:prstGeom prst="rect">
            <a:avLst/>
          </a:prstGeom>
          <a:solidFill>
            <a:srgbClr val="414141"/>
          </a:solidFill>
          <a:ln>
            <a:noFill/>
          </a:ln>
          <a:effectLst>
            <a:outerShdw blurRad="71438" rotWithShape="0" algn="bl" dir="2700000" dist="28575">
              <a:srgbClr val="000000">
                <a:alpha val="16862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2efeb18e6b_0_427"/>
          <p:cNvSpPr/>
          <p:nvPr/>
        </p:nvSpPr>
        <p:spPr>
          <a:xfrm>
            <a:off x="973525" y="4955945"/>
            <a:ext cx="1380000" cy="10479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03</a:t>
            </a:r>
            <a:endParaRPr b="0" i="0" sz="4300" u="none" cap="none" strike="noStrike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196" name="Google Shape;196;g32efeb18e6b_0_427"/>
          <p:cNvSpPr/>
          <p:nvPr/>
        </p:nvSpPr>
        <p:spPr>
          <a:xfrm flipH="1">
            <a:off x="2353575" y="3583173"/>
            <a:ext cx="3688800" cy="10479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2efeb18e6b_0_427"/>
          <p:cNvSpPr/>
          <p:nvPr/>
        </p:nvSpPr>
        <p:spPr>
          <a:xfrm rot="-5400000">
            <a:off x="6158037" y="1439988"/>
            <a:ext cx="1049200" cy="5335525"/>
          </a:xfrm>
          <a:prstGeom prst="flowChartOffpageConnector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2efeb18e6b_0_427"/>
          <p:cNvSpPr/>
          <p:nvPr/>
        </p:nvSpPr>
        <p:spPr>
          <a:xfrm>
            <a:off x="2320375" y="3709350"/>
            <a:ext cx="70299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User App for  Flood Alerts and climate warnings.</a:t>
            </a:r>
            <a:endParaRPr b="0" i="0" sz="17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g32efeb18e6b_0_427"/>
          <p:cNvSpPr/>
          <p:nvPr/>
        </p:nvSpPr>
        <p:spPr>
          <a:xfrm>
            <a:off x="973525" y="3583161"/>
            <a:ext cx="1380000" cy="1047600"/>
          </a:xfrm>
          <a:prstGeom prst="rect">
            <a:avLst/>
          </a:prstGeom>
          <a:solidFill>
            <a:srgbClr val="414141"/>
          </a:solidFill>
          <a:ln>
            <a:noFill/>
          </a:ln>
          <a:effectLst>
            <a:outerShdw blurRad="71438" rotWithShape="0" algn="bl" dir="2700000" dist="28575">
              <a:srgbClr val="000000">
                <a:alpha val="16862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2efeb18e6b_0_427"/>
          <p:cNvSpPr/>
          <p:nvPr/>
        </p:nvSpPr>
        <p:spPr>
          <a:xfrm>
            <a:off x="973525" y="3583173"/>
            <a:ext cx="1380000" cy="10479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02</a:t>
            </a:r>
            <a:endParaRPr b="0" i="0" sz="4300" u="none" cap="none" strike="noStrike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01" name="Google Shape;201;g32efeb18e6b_0_427"/>
          <p:cNvSpPr/>
          <p:nvPr/>
        </p:nvSpPr>
        <p:spPr>
          <a:xfrm flipH="1">
            <a:off x="2353575" y="2210374"/>
            <a:ext cx="3688800" cy="10479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feb18e6b_0_427"/>
          <p:cNvSpPr/>
          <p:nvPr/>
        </p:nvSpPr>
        <p:spPr>
          <a:xfrm rot="-5400000">
            <a:off x="5440100" y="785150"/>
            <a:ext cx="1049175" cy="3899625"/>
          </a:xfrm>
          <a:prstGeom prst="flowChartOffpageConnector">
            <a:avLst/>
          </a:prstGeom>
          <a:solidFill>
            <a:srgbClr val="3D3D3D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feb18e6b_0_427"/>
          <p:cNvSpPr/>
          <p:nvPr/>
        </p:nvSpPr>
        <p:spPr>
          <a:xfrm>
            <a:off x="2320375" y="2336550"/>
            <a:ext cx="48321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Early Flood Detection System</a:t>
            </a:r>
            <a:endParaRPr b="0" i="0" sz="17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32efeb18e6b_0_427"/>
          <p:cNvSpPr/>
          <p:nvPr/>
        </p:nvSpPr>
        <p:spPr>
          <a:xfrm>
            <a:off x="973525" y="2210363"/>
            <a:ext cx="1380000" cy="1047600"/>
          </a:xfrm>
          <a:prstGeom prst="rect">
            <a:avLst/>
          </a:prstGeom>
          <a:solidFill>
            <a:srgbClr val="414141"/>
          </a:solidFill>
          <a:ln>
            <a:noFill/>
          </a:ln>
          <a:effectLst>
            <a:outerShdw blurRad="71438" rotWithShape="0" algn="bl" dir="2700000" dist="28575">
              <a:srgbClr val="000000">
                <a:alpha val="16862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feb18e6b_0_427"/>
          <p:cNvSpPr/>
          <p:nvPr/>
        </p:nvSpPr>
        <p:spPr>
          <a:xfrm>
            <a:off x="973525" y="2210374"/>
            <a:ext cx="1380000" cy="10479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-US" sz="4300" u="none" cap="none" strike="noStrike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rPr>
              <a:t>01</a:t>
            </a:r>
            <a:endParaRPr b="0" i="0" sz="4300" u="none" cap="none" strike="noStrike">
              <a:solidFill>
                <a:srgbClr val="FFFFFF"/>
              </a:solidFill>
              <a:latin typeface="Roboto Thin"/>
              <a:ea typeface="Roboto Thin"/>
              <a:cs typeface="Roboto Thin"/>
              <a:sym typeface="Roboto Thin"/>
            </a:endParaRPr>
          </a:p>
        </p:txBody>
      </p:sp>
      <p:sp>
        <p:nvSpPr>
          <p:cNvPr id="206" name="Google Shape;206;g32efeb18e6b_0_427"/>
          <p:cNvSpPr/>
          <p:nvPr/>
        </p:nvSpPr>
        <p:spPr>
          <a:xfrm>
            <a:off x="11490950" y="2283700"/>
            <a:ext cx="753000" cy="11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2efeb18e6b_0_427"/>
          <p:cNvSpPr/>
          <p:nvPr/>
        </p:nvSpPr>
        <p:spPr>
          <a:xfrm>
            <a:off x="10358250" y="2196475"/>
            <a:ext cx="527700" cy="521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b9dd42a89_0_20"/>
          <p:cNvSpPr/>
          <p:nvPr/>
        </p:nvSpPr>
        <p:spPr>
          <a:xfrm>
            <a:off x="0" y="2250500"/>
            <a:ext cx="18282615" cy="8034921"/>
          </a:xfrm>
          <a:custGeom>
            <a:rect b="b" l="l" r="r" t="t"/>
            <a:pathLst>
              <a:path extrusionOk="0" h="1588714" w="4995250">
                <a:moveTo>
                  <a:pt x="0" y="0"/>
                </a:moveTo>
                <a:lnTo>
                  <a:pt x="4995250" y="0"/>
                </a:lnTo>
                <a:lnTo>
                  <a:pt x="4995250" y="1588714"/>
                </a:lnTo>
                <a:lnTo>
                  <a:pt x="0" y="1588714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</p:sp>
      <p:pic>
        <p:nvPicPr>
          <p:cNvPr id="213" name="Google Shape;213;g32b9dd42a89_0_20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7" y="7"/>
            <a:ext cx="4839310" cy="2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2b9dd42a89_0_20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4902324" y="0"/>
            <a:ext cx="4839325" cy="22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2b9dd42a89_0_20"/>
          <p:cNvSpPr txBox="1"/>
          <p:nvPr/>
        </p:nvSpPr>
        <p:spPr>
          <a:xfrm>
            <a:off x="1154177" y="742950"/>
            <a:ext cx="15115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1" i="0" lang="en-US" sz="6399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TECHNOLOGY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g32b9dd42a89_0_20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9747932" y="135782"/>
            <a:ext cx="4839310" cy="2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2b9dd42a89_0_20"/>
          <p:cNvPicPr preferRelativeResize="0"/>
          <p:nvPr/>
        </p:nvPicPr>
        <p:blipFill rotWithShape="1">
          <a:blip r:embed="rId3">
            <a:alphaModFix amt="58999"/>
          </a:blip>
          <a:srcRect b="0" l="0" r="0" t="0"/>
          <a:stretch/>
        </p:blipFill>
        <p:spPr>
          <a:xfrm>
            <a:off x="13443299" y="288175"/>
            <a:ext cx="4839325" cy="22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2b9dd42a89_0_20"/>
          <p:cNvPicPr preferRelativeResize="0"/>
          <p:nvPr/>
        </p:nvPicPr>
        <p:blipFill rotWithShape="1">
          <a:blip r:embed="rId4">
            <a:alphaModFix/>
          </a:blip>
          <a:srcRect b="0" l="36479" r="30700" t="0"/>
          <a:stretch/>
        </p:blipFill>
        <p:spPr>
          <a:xfrm rot="5400000">
            <a:off x="13290613" y="2092238"/>
            <a:ext cx="2246925" cy="68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2b9dd42a89_0_20"/>
          <p:cNvSpPr txBox="1"/>
          <p:nvPr/>
        </p:nvSpPr>
        <p:spPr>
          <a:xfrm>
            <a:off x="12252914" y="6772357"/>
            <a:ext cx="517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 hardware module Prototype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2b9dd42a89_0_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300" y="2538675"/>
            <a:ext cx="9930250" cy="70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eee3178cd_0_413"/>
          <p:cNvSpPr txBox="1"/>
          <p:nvPr/>
        </p:nvSpPr>
        <p:spPr>
          <a:xfrm>
            <a:off x="1540933" y="7326114"/>
            <a:ext cx="20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ee3178cd_0_413"/>
          <p:cNvSpPr txBox="1"/>
          <p:nvPr/>
        </p:nvSpPr>
        <p:spPr>
          <a:xfrm>
            <a:off x="15837085" y="6746320"/>
            <a:ext cx="115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ee3178cd_0_413"/>
          <p:cNvSpPr txBox="1"/>
          <p:nvPr/>
        </p:nvSpPr>
        <p:spPr>
          <a:xfrm>
            <a:off x="10840754" y="902143"/>
            <a:ext cx="6611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Materials availability , cost-benefit ratio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supporting background , research , weatherproof enclosure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2eee3178cd_0_413"/>
          <p:cNvSpPr txBox="1"/>
          <p:nvPr/>
        </p:nvSpPr>
        <p:spPr>
          <a:xfrm>
            <a:off x="-110850" y="0"/>
            <a:ext cx="18641100" cy="22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32eee3178cd_0_4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20650" y="3567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2eee3178cd_0_413"/>
          <p:cNvSpPr txBox="1"/>
          <p:nvPr/>
        </p:nvSpPr>
        <p:spPr>
          <a:xfrm>
            <a:off x="1028700" y="442425"/>
            <a:ext cx="9720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6900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FEASIBILITY STUDY  </a:t>
            </a:r>
            <a:endParaRPr b="0" i="0" sz="6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2eee3178cd_0_413"/>
          <p:cNvSpPr/>
          <p:nvPr/>
        </p:nvSpPr>
        <p:spPr>
          <a:xfrm>
            <a:off x="7499541" y="3671025"/>
            <a:ext cx="3880800" cy="949800"/>
          </a:xfrm>
          <a:prstGeom prst="chevron">
            <a:avLst>
              <a:gd fmla="val 50000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Prototype Study</a:t>
            </a:r>
            <a:endParaRPr b="0" i="0" sz="2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2" name="Google Shape;232;g32eee3178cd_0_413"/>
          <p:cNvGrpSpPr/>
          <p:nvPr/>
        </p:nvGrpSpPr>
        <p:grpSpPr>
          <a:xfrm>
            <a:off x="799825" y="3671304"/>
            <a:ext cx="3760797" cy="4945084"/>
            <a:chOff x="0" y="1189995"/>
            <a:chExt cx="3371400" cy="3482699"/>
          </a:xfrm>
        </p:grpSpPr>
        <p:sp>
          <p:nvSpPr>
            <p:cNvPr id="233" name="Google Shape;233;g32eee3178cd_0_413"/>
            <p:cNvSpPr/>
            <p:nvPr/>
          </p:nvSpPr>
          <p:spPr>
            <a:xfrm>
              <a:off x="0" y="1189995"/>
              <a:ext cx="3371400" cy="669000"/>
            </a:xfrm>
            <a:prstGeom prst="homePlate">
              <a:avLst>
                <a:gd fmla="val 50000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Materials Availability </a:t>
              </a:r>
              <a:endParaRPr b="0" i="0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" name="Google Shape;234;g32eee3178cd_0_413"/>
            <p:cNvSpPr txBox="1"/>
            <p:nvPr/>
          </p:nvSpPr>
          <p:spPr>
            <a:xfrm>
              <a:off x="22624" y="1858994"/>
              <a:ext cx="2914500" cy="28137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Current Equipments  are ESP8266, DHT22, MQ135, HC-04, TP4056 BMS, DC-DC boost converter, AC-DC 5V adapter, 18650 battery . </a:t>
              </a:r>
              <a:br>
                <a:rPr b="0" i="0" lang="en-US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br>
                <a:rPr b="0" i="0" lang="en-US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b="0" i="0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boto"/>
                <a:buChar char="●"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Is widely available in the local markets. </a:t>
              </a:r>
              <a:br>
                <a:rPr b="0" i="0" lang="en-US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b="0" i="0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556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Roboto"/>
                <a:buChar char="●"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 affordable price . </a:t>
              </a:r>
              <a:endParaRPr b="0" i="0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35" name="Google Shape;235;g32eee3178cd_0_413"/>
          <p:cNvSpPr/>
          <p:nvPr/>
        </p:nvSpPr>
        <p:spPr>
          <a:xfrm>
            <a:off x="4149252" y="3671025"/>
            <a:ext cx="3760800" cy="949800"/>
          </a:xfrm>
          <a:prstGeom prst="chevron">
            <a:avLst>
              <a:gd fmla="val 50000" name="adj"/>
            </a:avLst>
          </a:prstGeom>
          <a:solidFill>
            <a:srgbClr val="41414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Cost-Benefit Ratio</a:t>
            </a:r>
            <a:endParaRPr b="0" i="0" sz="2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32eee3178cd_0_413"/>
          <p:cNvSpPr txBox="1"/>
          <p:nvPr/>
        </p:nvSpPr>
        <p:spPr>
          <a:xfrm>
            <a:off x="16521234" y="7752924"/>
            <a:ext cx="85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2eee3178cd_0_4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77573" y="3655325"/>
            <a:ext cx="2819477" cy="143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2eee3178cd_0_4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77573" y="5396106"/>
            <a:ext cx="2819476" cy="1447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2eee3178cd_0_413"/>
          <p:cNvPicPr preferRelativeResize="0"/>
          <p:nvPr/>
        </p:nvPicPr>
        <p:blipFill rotWithShape="1">
          <a:blip r:embed="rId6">
            <a:alphaModFix/>
          </a:blip>
          <a:srcRect b="0" l="6270" r="0" t="0"/>
          <a:stretch/>
        </p:blipFill>
        <p:spPr>
          <a:xfrm>
            <a:off x="11762250" y="7322017"/>
            <a:ext cx="3019455" cy="1141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2eee3178cd_0_4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62257" y="3655325"/>
            <a:ext cx="3019448" cy="1447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2eee3178cd_0_4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762250" y="5396110"/>
            <a:ext cx="3019457" cy="163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2eee3178cd_0_4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877573" y="7308717"/>
            <a:ext cx="2819477" cy="140028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2eee3178cd_0_413"/>
          <p:cNvSpPr txBox="1"/>
          <p:nvPr/>
        </p:nvSpPr>
        <p:spPr>
          <a:xfrm>
            <a:off x="13295205" y="8916610"/>
            <a:ext cx="29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Relevant Research Papers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2eee3178cd_0_413"/>
          <p:cNvSpPr txBox="1"/>
          <p:nvPr/>
        </p:nvSpPr>
        <p:spPr>
          <a:xfrm>
            <a:off x="4149264" y="4602798"/>
            <a:ext cx="3250800" cy="39951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single weather station costs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27 lakh BDT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establish.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TERRA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offers similar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 km radius coverage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 lakh BDT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32eee3178cd_0_413"/>
          <p:cNvSpPr txBox="1"/>
          <p:nvPr/>
        </p:nvSpPr>
        <p:spPr>
          <a:xfrm>
            <a:off x="7499541" y="4602798"/>
            <a:ext cx="3430800" cy="3995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 prototype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warning system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monitored for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 months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 (Dhaka Division).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Ongoing research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the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prediction model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continues.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9157" y="-1961695"/>
            <a:ext cx="9091031" cy="72953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12216189" y="-166497"/>
            <a:ext cx="5343393" cy="5309997"/>
          </a:xfrm>
          <a:custGeom>
            <a:rect b="b" l="l" r="r" t="t"/>
            <a:pathLst>
              <a:path extrusionOk="0" h="5309997" w="5343393">
                <a:moveTo>
                  <a:pt x="0" y="0"/>
                </a:moveTo>
                <a:lnTo>
                  <a:pt x="5343393" y="0"/>
                </a:lnTo>
                <a:lnTo>
                  <a:pt x="5343393" y="5309997"/>
                </a:lnTo>
                <a:lnTo>
                  <a:pt x="0" y="5309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7"/>
          <p:cNvSpPr/>
          <p:nvPr/>
        </p:nvSpPr>
        <p:spPr>
          <a:xfrm>
            <a:off x="0" y="3780000"/>
            <a:ext cx="18282615" cy="6775865"/>
          </a:xfrm>
          <a:custGeom>
            <a:rect b="b" l="l" r="r" t="t"/>
            <a:pathLst>
              <a:path extrusionOk="0" h="1588714" w="4995250">
                <a:moveTo>
                  <a:pt x="0" y="0"/>
                </a:moveTo>
                <a:lnTo>
                  <a:pt x="4995250" y="0"/>
                </a:lnTo>
                <a:lnTo>
                  <a:pt x="4995250" y="1588714"/>
                </a:lnTo>
                <a:lnTo>
                  <a:pt x="0" y="15887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3" name="Google Shape;253;p7"/>
          <p:cNvSpPr txBox="1"/>
          <p:nvPr/>
        </p:nvSpPr>
        <p:spPr>
          <a:xfrm>
            <a:off x="15969727" y="9515475"/>
            <a:ext cx="128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941275" y="243602"/>
            <a:ext cx="6956700" cy="3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99"/>
              <a:buFont typeface="Arial"/>
              <a:buNone/>
            </a:pPr>
            <a:r>
              <a:rPr b="1" i="0" lang="en-US" sz="9999" u="none" cap="none" strike="noStrike">
                <a:solidFill>
                  <a:srgbClr val="FFFFFF"/>
                </a:solidFill>
                <a:latin typeface="Arsenal"/>
                <a:ea typeface="Arsenal"/>
                <a:cs typeface="Arsenal"/>
                <a:sym typeface="Arsenal"/>
              </a:rPr>
              <a:t>BUSINESS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7"/>
          <p:cNvPicPr preferRelativeResize="0"/>
          <p:nvPr/>
        </p:nvPicPr>
        <p:blipFill rotWithShape="1">
          <a:blip r:embed="rId5">
            <a:alphaModFix/>
          </a:blip>
          <a:srcRect b="0" l="0" r="0" t="17573"/>
          <a:stretch/>
        </p:blipFill>
        <p:spPr>
          <a:xfrm>
            <a:off x="10205575" y="3780000"/>
            <a:ext cx="8320350" cy="617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7"/>
          <p:cNvGrpSpPr/>
          <p:nvPr/>
        </p:nvGrpSpPr>
        <p:grpSpPr>
          <a:xfrm>
            <a:off x="595217" y="4623315"/>
            <a:ext cx="8007206" cy="1286711"/>
            <a:chOff x="1593000" y="2322568"/>
            <a:chExt cx="2939827" cy="643356"/>
          </a:xfrm>
        </p:grpSpPr>
        <p:sp>
          <p:nvSpPr>
            <p:cNvPr id="257" name="Google Shape;257;p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2254897" y="2399947"/>
              <a:ext cx="2028600" cy="4959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Service: Real-time flood data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predictive analytics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●"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Clients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: Government agencies.</a:t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Char char="●"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</a:t>
              </a:r>
              <a:r>
                <a:rPr b="0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: Disaster management, infrastructure planning, emergency response.</a:t>
              </a:r>
              <a:endParaRPr b="0" i="0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6862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00"/>
                <a:buFont typeface="Arial"/>
                <a:buNone/>
              </a:pPr>
              <a:r>
                <a:rPr b="1" i="0" lang="en-US" sz="37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B2G</a:t>
              </a:r>
              <a:endParaRPr b="1" i="0" sz="3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2" name="Google Shape;262;p7"/>
          <p:cNvGrpSpPr/>
          <p:nvPr/>
        </p:nvGrpSpPr>
        <p:grpSpPr>
          <a:xfrm>
            <a:off x="595236" y="7879215"/>
            <a:ext cx="8671606" cy="1286711"/>
            <a:chOff x="1593000" y="2322568"/>
            <a:chExt cx="2939827" cy="643356"/>
          </a:xfrm>
        </p:grpSpPr>
        <p:sp>
          <p:nvSpPr>
            <p:cNvPr id="263" name="Google Shape;263;p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Platform : Mobile app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●"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Target users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: Farmers, homeowners, and commuters.</a:t>
              </a:r>
              <a:endPara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Char char="●"/>
              </a:pPr>
              <a:r>
                <a:rPr b="1" i="0" lang="en-US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Monetization model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: Subscription-based or freemium.</a:t>
              </a:r>
              <a:endParaRPr b="0" i="0" sz="15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6862"/>
                </a:srgbClr>
              </a:outerShdw>
            </a:effectLst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32909B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00"/>
                <a:buFont typeface="Arial"/>
                <a:buNone/>
              </a:pPr>
              <a:r>
                <a:rPr b="1" i="0" lang="en-US" sz="37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B2C</a:t>
              </a:r>
              <a:endParaRPr b="1" i="0" sz="3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8" name="Google Shape;268;p7"/>
          <p:cNvSpPr/>
          <p:nvPr/>
        </p:nvSpPr>
        <p:spPr>
          <a:xfrm flipH="1">
            <a:off x="2764656" y="6251481"/>
            <a:ext cx="5798100" cy="1285200"/>
          </a:xfrm>
          <a:prstGeom prst="rect">
            <a:avLst/>
          </a:prstGeom>
          <a:solidFill>
            <a:srgbClr val="32909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 rot="-5400000">
            <a:off x="6963173" y="4664132"/>
            <a:ext cx="1286711" cy="4461380"/>
          </a:xfrm>
          <a:prstGeom prst="flowChartOffpageConnector">
            <a:avLst/>
          </a:prstGeom>
          <a:solidFill>
            <a:srgbClr val="32909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95284" y="6251466"/>
            <a:ext cx="2169300" cy="1284600"/>
          </a:xfrm>
          <a:prstGeom prst="rect">
            <a:avLst/>
          </a:prstGeom>
          <a:solidFill>
            <a:srgbClr val="32909B"/>
          </a:solidFill>
          <a:ln>
            <a:noFill/>
          </a:ln>
          <a:effectLst>
            <a:outerShdw blurRad="71438" rotWithShape="0" algn="bl" dir="2700000" dist="28575">
              <a:srgbClr val="000000">
                <a:alpha val="16862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595276" y="6251475"/>
            <a:ext cx="1889100" cy="1285200"/>
          </a:xfrm>
          <a:prstGeom prst="rect">
            <a:avLst/>
          </a:prstGeom>
          <a:solidFill>
            <a:srgbClr val="32909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B2B</a:t>
            </a:r>
            <a:endParaRPr b="1" i="0" sz="37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2484325" y="6406225"/>
            <a:ext cx="6568800" cy="991800"/>
          </a:xfrm>
          <a:prstGeom prst="rect">
            <a:avLst/>
          </a:prstGeom>
          <a:solidFill>
            <a:srgbClr val="32909B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Platform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Subscription Based  </a:t>
            </a: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Web portal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Target clients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NGOs, insurance companies, agriculture firms, and real estate developers.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Mitigate </a:t>
            </a: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financial and operational risks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5"/>
          <p:cNvGrpSpPr/>
          <p:nvPr/>
        </p:nvGrpSpPr>
        <p:grpSpPr>
          <a:xfrm>
            <a:off x="3" y="-235500"/>
            <a:ext cx="18287889" cy="2620138"/>
            <a:chOff x="-563000" y="0"/>
            <a:chExt cx="18849607" cy="3451638"/>
          </a:xfrm>
        </p:grpSpPr>
        <p:pic>
          <p:nvPicPr>
            <p:cNvPr id="278" name="Google Shape;278;p5"/>
            <p:cNvPicPr preferRelativeResize="0"/>
            <p:nvPr/>
          </p:nvPicPr>
          <p:blipFill rotWithShape="1">
            <a:blip r:embed="rId3">
              <a:alphaModFix/>
            </a:blip>
            <a:srcRect b="0" l="0" r="0" t="62470"/>
            <a:stretch/>
          </p:blipFill>
          <p:spPr>
            <a:xfrm>
              <a:off x="9190599" y="0"/>
              <a:ext cx="9096008" cy="3451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4">
              <a:alphaModFix/>
            </a:blip>
            <a:srcRect b="0" l="0" r="0" t="64611"/>
            <a:stretch/>
          </p:blipFill>
          <p:spPr>
            <a:xfrm>
              <a:off x="-563000" y="0"/>
              <a:ext cx="9753600" cy="3451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5"/>
          <p:cNvSpPr txBox="1"/>
          <p:nvPr/>
        </p:nvSpPr>
        <p:spPr>
          <a:xfrm>
            <a:off x="1268395" y="971525"/>
            <a:ext cx="1134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99"/>
              <a:buFont typeface="Arial"/>
              <a:buNone/>
            </a:pPr>
            <a:r>
              <a:rPr b="1" i="0" lang="en-US" sz="7199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MARKET OPPORTUNITY 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9866025" y="8699225"/>
            <a:ext cx="805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People without Early Flood Warning faced a damage of over 11M USD others 4M . </a:t>
            </a:r>
            <a:br>
              <a:rPr b="0" i="1" lang="en-US" sz="25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6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BANGLADESH: CYCLONE AND MONSOON FLOODS HUMANITARIAN RESPONSE PLAN, JUNE 2024 - MARCH 2025  Page:11 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 txBox="1"/>
          <p:nvPr/>
        </p:nvSpPr>
        <p:spPr>
          <a:xfrm>
            <a:off x="926100" y="8627250"/>
            <a:ext cx="80538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BDT 14,421.46 crore in damage from Eastern Region floods: CPD</a:t>
            </a:r>
            <a:endParaRPr b="1" i="0" sz="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1" lang="en-US" sz="12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According to: Center  for Policy Dialogue , October 6, 2024</a:t>
            </a:r>
            <a:br>
              <a:rPr b="0" i="1" lang="en-US" sz="12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1" lang="en-US" sz="12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 rot="-5400000">
            <a:off x="4135437" y="1449035"/>
            <a:ext cx="901543" cy="5074218"/>
          </a:xfrm>
          <a:prstGeom prst="flowChartOffpageConnec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 rot="-5400000">
            <a:off x="5022480" y="2910562"/>
            <a:ext cx="901543" cy="5074218"/>
          </a:xfrm>
          <a:prstGeom prst="flowChartOffpageConnec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 rot="-5400000">
            <a:off x="6466750" y="4511871"/>
            <a:ext cx="901543" cy="5074218"/>
          </a:xfrm>
          <a:prstGeom prst="flowChartOffpageConnec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2195925" y="3742912"/>
            <a:ext cx="5143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 climate consultancy market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3042837" y="5220604"/>
            <a:ext cx="5143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Agri-Tech market 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4544020" y="6816231"/>
            <a:ext cx="5143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Service Obtainable market  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9653292" y="3484375"/>
            <a:ext cx="2309100" cy="65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USD 6.13 billion</a:t>
            </a:r>
            <a:endParaRPr b="1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0" name="Google Shape;290;p5"/>
          <p:cNvGrpSpPr/>
          <p:nvPr/>
        </p:nvGrpSpPr>
        <p:grpSpPr>
          <a:xfrm>
            <a:off x="7302598" y="3461938"/>
            <a:ext cx="7040701" cy="4197661"/>
            <a:chOff x="1286338" y="2841038"/>
            <a:chExt cx="5761150" cy="4994837"/>
          </a:xfrm>
        </p:grpSpPr>
        <p:sp>
          <p:nvSpPr>
            <p:cNvPr id="291" name="Google Shape;291;p5"/>
            <p:cNvSpPr/>
            <p:nvPr/>
          </p:nvSpPr>
          <p:spPr>
            <a:xfrm>
              <a:off x="2034350" y="3264375"/>
              <a:ext cx="4233325" cy="2185600"/>
            </a:xfrm>
            <a:custGeom>
              <a:rect b="b" l="l" r="r" t="t"/>
              <a:pathLst>
                <a:path extrusionOk="0" h="87424" w="169333">
                  <a:moveTo>
                    <a:pt x="169333" y="50052"/>
                  </a:moveTo>
                  <a:lnTo>
                    <a:pt x="84667" y="0"/>
                  </a:lnTo>
                  <a:lnTo>
                    <a:pt x="0" y="49953"/>
                  </a:lnTo>
                  <a:lnTo>
                    <a:pt x="83907" y="87424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92" name="Google Shape;292;p5"/>
            <p:cNvSpPr/>
            <p:nvPr/>
          </p:nvSpPr>
          <p:spPr>
            <a:xfrm>
              <a:off x="1305638" y="2868013"/>
              <a:ext cx="5741850" cy="1657650"/>
            </a:xfrm>
            <a:custGeom>
              <a:rect b="b" l="l" r="r" t="t"/>
              <a:pathLst>
                <a:path extrusionOk="0" h="66306" w="229674">
                  <a:moveTo>
                    <a:pt x="197759" y="66306"/>
                  </a:moveTo>
                  <a:lnTo>
                    <a:pt x="229674" y="239"/>
                  </a:lnTo>
                  <a:lnTo>
                    <a:pt x="0" y="1077"/>
                  </a:lnTo>
                  <a:lnTo>
                    <a:pt x="103387" y="0"/>
                  </a:lnTo>
                  <a:lnTo>
                    <a:pt x="116748" y="26680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293" name="Google Shape;293;p5"/>
            <p:cNvSpPr/>
            <p:nvPr/>
          </p:nvSpPr>
          <p:spPr>
            <a:xfrm>
              <a:off x="1286338" y="2841038"/>
              <a:ext cx="2950975" cy="1684625"/>
            </a:xfrm>
            <a:custGeom>
              <a:rect b="b" l="l" r="r" t="t"/>
              <a:pathLst>
                <a:path extrusionOk="0" h="67385" w="118039">
                  <a:moveTo>
                    <a:pt x="31915" y="67385"/>
                  </a:moveTo>
                  <a:lnTo>
                    <a:pt x="0" y="1318"/>
                  </a:lnTo>
                  <a:lnTo>
                    <a:pt x="76" y="0"/>
                  </a:lnTo>
                  <a:lnTo>
                    <a:pt x="118039" y="2156"/>
                  </a:lnTo>
                  <a:lnTo>
                    <a:pt x="115827" y="28606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</p:sp>
        <p:sp>
          <p:nvSpPr>
            <p:cNvPr id="294" name="Google Shape;294;p5"/>
            <p:cNvSpPr/>
            <p:nvPr/>
          </p:nvSpPr>
          <p:spPr>
            <a:xfrm rot="10800000">
              <a:off x="2877980" y="5294491"/>
              <a:ext cx="2566575" cy="1038392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95" name="Google Shape;295;p5"/>
            <p:cNvSpPr/>
            <p:nvPr/>
          </p:nvSpPr>
          <p:spPr>
            <a:xfrm rot="10800000">
              <a:off x="4160570" y="4046765"/>
              <a:ext cx="1949369" cy="1799570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296" name="Google Shape;296;p5"/>
            <p:cNvSpPr/>
            <p:nvPr/>
          </p:nvSpPr>
          <p:spPr>
            <a:xfrm flipH="1" rot="10800000">
              <a:off x="2216404" y="4046765"/>
              <a:ext cx="1949369" cy="1799570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</p:spPr>
        </p:sp>
        <p:sp>
          <p:nvSpPr>
            <p:cNvPr id="297" name="Google Shape;297;p5"/>
            <p:cNvSpPr/>
            <p:nvPr/>
          </p:nvSpPr>
          <p:spPr>
            <a:xfrm rot="10800000">
              <a:off x="4160541" y="5706966"/>
              <a:ext cx="1136722" cy="212890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298" name="Google Shape;298;p5"/>
            <p:cNvSpPr/>
            <p:nvPr/>
          </p:nvSpPr>
          <p:spPr>
            <a:xfrm flipH="1" rot="10800000">
              <a:off x="3029080" y="5706966"/>
              <a:ext cx="1136722" cy="212890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</p:sp>
      </p:grpSp>
      <p:sp>
        <p:nvSpPr>
          <p:cNvPr id="299" name="Google Shape;299;p5"/>
          <p:cNvSpPr/>
          <p:nvPr/>
        </p:nvSpPr>
        <p:spPr>
          <a:xfrm>
            <a:off x="9793405" y="4865947"/>
            <a:ext cx="2096400" cy="600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USD 15 million </a:t>
            </a:r>
            <a:br>
              <a:rPr b="1" i="0" lang="en-US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600" u="sng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Source: LightCastle Analytics Wing</a:t>
            </a:r>
            <a:endParaRPr b="1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9759532" y="3495717"/>
            <a:ext cx="2096400" cy="600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USD 6.13 billion</a:t>
            </a:r>
            <a:br>
              <a:rPr b="1" i="0" lang="en-US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600" u="sng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Source: Mordor Intelligence</a:t>
            </a:r>
            <a:endParaRPr b="1" i="0" sz="600" u="sng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5"/>
          <p:cNvSpPr txBox="1"/>
          <p:nvPr/>
        </p:nvSpPr>
        <p:spPr>
          <a:xfrm>
            <a:off x="14735925" y="3500207"/>
            <a:ext cx="101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"/>
          <p:cNvSpPr txBox="1"/>
          <p:nvPr/>
        </p:nvSpPr>
        <p:spPr>
          <a:xfrm>
            <a:off x="13673095" y="5174338"/>
            <a:ext cx="101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12505709" y="6598208"/>
            <a:ext cx="101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9801915" y="6191582"/>
            <a:ext cx="2012100" cy="463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5% of National Financial Loses 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 txBox="1"/>
          <p:nvPr/>
        </p:nvSpPr>
        <p:spPr>
          <a:xfrm>
            <a:off x="0" y="0"/>
            <a:ext cx="9348000" cy="21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11"/>
          <p:cNvPicPr preferRelativeResize="0"/>
          <p:nvPr/>
        </p:nvPicPr>
        <p:blipFill rotWithShape="1">
          <a:blip r:embed="rId3">
            <a:alphaModFix amt="79000"/>
          </a:blip>
          <a:srcRect b="0" l="4160" r="8608" t="0"/>
          <a:stretch/>
        </p:blipFill>
        <p:spPr>
          <a:xfrm>
            <a:off x="9347843" y="-50200"/>
            <a:ext cx="9016358" cy="103372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 txBox="1"/>
          <p:nvPr/>
        </p:nvSpPr>
        <p:spPr>
          <a:xfrm>
            <a:off x="1218500" y="671875"/>
            <a:ext cx="104301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9"/>
              <a:buFont typeface="Arial"/>
              <a:buNone/>
            </a:pPr>
            <a:r>
              <a:rPr b="1" i="0" lang="en-US" sz="6950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COMPETITION </a:t>
            </a:r>
            <a:endParaRPr b="0" i="0" sz="69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1218500" y="2316400"/>
            <a:ext cx="2840700" cy="14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7925" y="806507"/>
            <a:ext cx="7576200" cy="338333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/>
        </p:nvSpPr>
        <p:spPr>
          <a:xfrm>
            <a:off x="10030200" y="4359100"/>
            <a:ext cx="75762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highlight>
                  <a:srgbClr val="666666"/>
                </a:highlight>
                <a:latin typeface="Calibri"/>
                <a:ea typeface="Calibri"/>
                <a:cs typeface="Calibri"/>
                <a:sym typeface="Calibri"/>
              </a:rPr>
              <a:t>A cost-benefit analysis of flood early warning system: Evidence from lower Brahmaputra River Basin, Bangladesh Author links open overlay panel Abu Reza Md Towfiqul Islam a h . | ResearchGate </a:t>
            </a:r>
            <a:endParaRPr b="0" i="0" sz="1700" u="none" cap="none" strike="noStrike">
              <a:solidFill>
                <a:schemeClr val="lt1"/>
              </a:solidFill>
              <a:highlight>
                <a:srgbClr val="666666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9588050" y="6078975"/>
            <a:ext cx="80559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single Weather Station Establishment Costs 27 Lakh BDT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While a single TERRA module </a:t>
            </a:r>
            <a:b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costs around 5k BDT </a:t>
            </a:r>
            <a:r>
              <a:rPr b="0" i="1" lang="en-US" sz="2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1" sz="2100" u="sng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1901" y="4198250"/>
            <a:ext cx="4407267" cy="12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3350" y="3731475"/>
            <a:ext cx="1966497" cy="216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g32efeb18e6b_0_484"/>
          <p:cNvGrpSpPr/>
          <p:nvPr/>
        </p:nvGrpSpPr>
        <p:grpSpPr>
          <a:xfrm>
            <a:off x="3" y="-6900"/>
            <a:ext cx="18287888" cy="2620138"/>
            <a:chOff x="-563000" y="0"/>
            <a:chExt cx="18849607" cy="3451638"/>
          </a:xfrm>
        </p:grpSpPr>
        <p:pic>
          <p:nvPicPr>
            <p:cNvPr id="323" name="Google Shape;323;g32efeb18e6b_0_484"/>
            <p:cNvPicPr preferRelativeResize="0"/>
            <p:nvPr/>
          </p:nvPicPr>
          <p:blipFill rotWithShape="1">
            <a:blip r:embed="rId3">
              <a:alphaModFix/>
            </a:blip>
            <a:srcRect b="0" l="0" r="0" t="62468"/>
            <a:stretch/>
          </p:blipFill>
          <p:spPr>
            <a:xfrm>
              <a:off x="9190599" y="0"/>
              <a:ext cx="9096008" cy="3451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g32efeb18e6b_0_484"/>
            <p:cNvPicPr preferRelativeResize="0"/>
            <p:nvPr/>
          </p:nvPicPr>
          <p:blipFill rotWithShape="1">
            <a:blip r:embed="rId4">
              <a:alphaModFix/>
            </a:blip>
            <a:srcRect b="0" l="0" r="0" t="64610"/>
            <a:stretch/>
          </p:blipFill>
          <p:spPr>
            <a:xfrm>
              <a:off x="-563000" y="0"/>
              <a:ext cx="9753600" cy="3451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5" name="Google Shape;325;g32efeb18e6b_0_484"/>
          <p:cNvSpPr txBox="1"/>
          <p:nvPr/>
        </p:nvSpPr>
        <p:spPr>
          <a:xfrm>
            <a:off x="1066100" y="824275"/>
            <a:ext cx="104301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9"/>
              <a:buFont typeface="Arial"/>
              <a:buNone/>
            </a:pPr>
            <a:r>
              <a:rPr b="1" i="0" lang="en-US" sz="6950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POTENTIAL PARTNERSHIP</a:t>
            </a:r>
            <a:endParaRPr b="0" i="0" sz="69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g32efeb18e6b_0_484"/>
          <p:cNvPicPr preferRelativeResize="0"/>
          <p:nvPr/>
        </p:nvPicPr>
        <p:blipFill rotWithShape="1">
          <a:blip r:embed="rId5">
            <a:alphaModFix/>
          </a:blip>
          <a:srcRect b="0" l="0" r="0" t="7910"/>
          <a:stretch/>
        </p:blipFill>
        <p:spPr>
          <a:xfrm>
            <a:off x="5898873" y="3455300"/>
            <a:ext cx="3140017" cy="2608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2efeb18e6b_0_4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9792" y="6720876"/>
            <a:ext cx="2069608" cy="21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2efeb18e6b_0_48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3975" y="3455300"/>
            <a:ext cx="1925427" cy="227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2efeb18e6b_0_48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706592" y="3661944"/>
            <a:ext cx="2122136" cy="2195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2efeb18e6b_0_48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0458" y="6689420"/>
            <a:ext cx="3211838" cy="214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2efeb18e6b_0_484"/>
          <p:cNvPicPr preferRelativeResize="0"/>
          <p:nvPr/>
        </p:nvPicPr>
        <p:blipFill rotWithShape="1">
          <a:blip r:embed="rId10">
            <a:alphaModFix/>
          </a:blip>
          <a:srcRect b="23741" l="0" r="0" t="28928"/>
          <a:stretch/>
        </p:blipFill>
        <p:spPr>
          <a:xfrm>
            <a:off x="11180045" y="6748050"/>
            <a:ext cx="4300311" cy="21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2efeb18e6b_0_48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60181" y="3464113"/>
            <a:ext cx="31527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110f31e096_0_0"/>
          <p:cNvPicPr preferRelativeResize="0"/>
          <p:nvPr/>
        </p:nvPicPr>
        <p:blipFill rotWithShape="1">
          <a:blip r:embed="rId3">
            <a:alphaModFix/>
          </a:blip>
          <a:srcRect b="22136" l="0" r="0" t="0"/>
          <a:stretch/>
        </p:blipFill>
        <p:spPr>
          <a:xfrm>
            <a:off x="0" y="0"/>
            <a:ext cx="18288000" cy="23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110f31e096_0_0"/>
          <p:cNvSpPr txBox="1"/>
          <p:nvPr/>
        </p:nvSpPr>
        <p:spPr>
          <a:xfrm>
            <a:off x="752825" y="1011575"/>
            <a:ext cx="10919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b="1" i="0" lang="en-US" sz="5299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IMPACT &amp;  SDG ALIGNMENTS :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g3110f31e09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4933" y="3270475"/>
            <a:ext cx="1987488" cy="2035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110f31e09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4925" y="5959026"/>
            <a:ext cx="1987492" cy="2035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110f31e09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4571" y="5959037"/>
            <a:ext cx="1987488" cy="2035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3110f31e096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62300" y="3237437"/>
            <a:ext cx="2052025" cy="2101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110f31e096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99350" y="3278675"/>
            <a:ext cx="5334726" cy="243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g3110f31e096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899356" y="5998434"/>
            <a:ext cx="5334719" cy="235714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110f31e096_0_0"/>
          <p:cNvSpPr txBox="1"/>
          <p:nvPr/>
        </p:nvSpPr>
        <p:spPr>
          <a:xfrm>
            <a:off x="10518350" y="8535700"/>
            <a:ext cx="636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Relevant Research That Proves the Impact of Our System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909B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2eee3178cd_0_555"/>
          <p:cNvSpPr txBox="1"/>
          <p:nvPr/>
        </p:nvSpPr>
        <p:spPr>
          <a:xfrm>
            <a:off x="0" y="0"/>
            <a:ext cx="18288000" cy="216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2eee3178cd_0_555"/>
          <p:cNvSpPr txBox="1"/>
          <p:nvPr/>
        </p:nvSpPr>
        <p:spPr>
          <a:xfrm>
            <a:off x="1142300" y="595675"/>
            <a:ext cx="104301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9"/>
              <a:buFont typeface="Arial"/>
              <a:buNone/>
            </a:pPr>
            <a:r>
              <a:rPr b="1" i="0" lang="en-US" sz="6950" u="none" cap="none" strike="noStrike">
                <a:solidFill>
                  <a:schemeClr val="lt1"/>
                </a:solidFill>
                <a:latin typeface="Arsenal"/>
                <a:ea typeface="Arsenal"/>
                <a:cs typeface="Arsenal"/>
                <a:sym typeface="Arsenal"/>
              </a:rPr>
              <a:t>THE ASK </a:t>
            </a:r>
            <a:endParaRPr b="0" i="0" sz="69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2eee3178cd_0_555"/>
          <p:cNvSpPr txBox="1"/>
          <p:nvPr/>
        </p:nvSpPr>
        <p:spPr>
          <a:xfrm>
            <a:off x="1142300" y="1599175"/>
            <a:ext cx="11900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2eee3178cd_0_555"/>
          <p:cNvSpPr/>
          <p:nvPr/>
        </p:nvSpPr>
        <p:spPr>
          <a:xfrm>
            <a:off x="13118600" y="-291874"/>
            <a:ext cx="5169301" cy="5130531"/>
          </a:xfrm>
          <a:custGeom>
            <a:rect b="b" l="l" r="r" t="t"/>
            <a:pathLst>
              <a:path extrusionOk="0" h="7893124" w="7952770">
                <a:moveTo>
                  <a:pt x="0" y="0"/>
                </a:moveTo>
                <a:lnTo>
                  <a:pt x="7952770" y="0"/>
                </a:lnTo>
                <a:lnTo>
                  <a:pt x="7952770" y="7893125"/>
                </a:lnTo>
                <a:lnTo>
                  <a:pt x="0" y="789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54" name="Google Shape;354;g32eee3178cd_0_555"/>
          <p:cNvPicPr preferRelativeResize="0"/>
          <p:nvPr/>
        </p:nvPicPr>
        <p:blipFill rotWithShape="1">
          <a:blip r:embed="rId4">
            <a:alphaModFix/>
          </a:blip>
          <a:srcRect b="5771" l="11221" r="0" t="7572"/>
          <a:stretch/>
        </p:blipFill>
        <p:spPr>
          <a:xfrm>
            <a:off x="837488" y="2554300"/>
            <a:ext cx="10018775" cy="67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"/>
          <p:cNvSpPr txBox="1"/>
          <p:nvPr/>
        </p:nvSpPr>
        <p:spPr>
          <a:xfrm>
            <a:off x="5162975" y="3879150"/>
            <a:ext cx="9192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0"/>
              <a:buFont typeface="Arial"/>
              <a:buNone/>
            </a:pPr>
            <a:r>
              <a:rPr b="1" i="0" lang="en-US" sz="1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Thank you</a:t>
            </a:r>
            <a:endParaRPr b="1" i="0" sz="1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